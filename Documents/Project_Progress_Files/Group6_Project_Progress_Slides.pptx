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0"/>
  </p:notesMasterIdLst>
  <p:sldIdLst>
    <p:sldId id="256" r:id="rId2"/>
    <p:sldId id="271" r:id="rId3"/>
    <p:sldId id="258" r:id="rId4"/>
    <p:sldId id="259" r:id="rId5"/>
    <p:sldId id="260" r:id="rId6"/>
    <p:sldId id="273" r:id="rId7"/>
    <p:sldId id="280" r:id="rId8"/>
    <p:sldId id="281" r:id="rId9"/>
    <p:sldId id="286" r:id="rId10"/>
    <p:sldId id="301" r:id="rId11"/>
    <p:sldId id="282" r:id="rId12"/>
    <p:sldId id="283" r:id="rId13"/>
    <p:sldId id="285" r:id="rId14"/>
    <p:sldId id="284" r:id="rId15"/>
    <p:sldId id="288" r:id="rId16"/>
    <p:sldId id="274" r:id="rId17"/>
    <p:sldId id="290" r:id="rId18"/>
    <p:sldId id="275" r:id="rId19"/>
    <p:sldId id="292" r:id="rId20"/>
    <p:sldId id="293" r:id="rId21"/>
    <p:sldId id="276" r:id="rId22"/>
    <p:sldId id="299" r:id="rId23"/>
    <p:sldId id="300" r:id="rId24"/>
    <p:sldId id="277" r:id="rId25"/>
    <p:sldId id="295" r:id="rId26"/>
    <p:sldId id="297" r:id="rId27"/>
    <p:sldId id="279" r:id="rId28"/>
    <p:sldId id="278" r:id="rId29"/>
  </p:sldIdLst>
  <p:sldSz cx="9144000" cy="5143500" type="screen16x9"/>
  <p:notesSz cx="6858000" cy="9144000"/>
  <p:embeddedFontLst>
    <p:embeddedFont>
      <p:font typeface="Gill Sans MT" panose="020B0502020104020203" pitchFamily="34" charset="77"/>
      <p:regular r:id="rId31"/>
      <p:bold r:id="rId32"/>
      <p:italic r:id="rId33"/>
      <p:boldItalic r:id="rId34"/>
    </p:embeddedFont>
    <p:embeddedFont>
      <p:font typeface="Raleway Medium" pitchFamily="2" charset="77"/>
      <p:regular r:id="rId35"/>
      <p:bold r:id="rId36"/>
      <p:italic r:id="rId37"/>
      <p:boldItalic r:id="rId38"/>
    </p:embeddedFont>
    <p:embeddedFont>
      <p:font typeface="Wingdings 2" pitchFamily="2" charset="2"/>
      <p:regular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6D93E0-FE57-40B0-AAFF-2FD2DFCAAC05}">
  <a:tblStyle styleId="{D36D93E0-FE57-40B0-AAFF-2FD2DFCAAC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20"/>
    <p:restoredTop sz="94605"/>
  </p:normalViewPr>
  <p:slideViewPr>
    <p:cSldViewPr snapToGrid="0">
      <p:cViewPr varScale="1">
        <p:scale>
          <a:sx n="135" d="100"/>
          <a:sy n="135" d="100"/>
        </p:scale>
        <p:origin x="168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ff7e6e5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1ff7e6e5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1eea1e02e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1eea1e02e_0_7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1eea1e02e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1eea1e02e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C956F5D-7B05-65A5-064C-D6DD2F10D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ff7e6e5f_0_1:notes">
            <a:extLst>
              <a:ext uri="{FF2B5EF4-FFF2-40B4-BE49-F238E27FC236}">
                <a16:creationId xmlns:a16="http://schemas.microsoft.com/office/drawing/2014/main" id="{DFF75A36-FF21-5237-99C3-A70B04654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1ff7e6e5f_0_1:notes">
            <a:extLst>
              <a:ext uri="{FF2B5EF4-FFF2-40B4-BE49-F238E27FC236}">
                <a16:creationId xmlns:a16="http://schemas.microsoft.com/office/drawing/2014/main" id="{0889D4F8-7FAB-DD06-B937-D886B6B7C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3653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F596D712-4686-3A9E-E2A6-E687D30CC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ff7e6e5f_0_1:notes">
            <a:extLst>
              <a:ext uri="{FF2B5EF4-FFF2-40B4-BE49-F238E27FC236}">
                <a16:creationId xmlns:a16="http://schemas.microsoft.com/office/drawing/2014/main" id="{05191FB0-5304-A01D-2E3A-4BC3FAD330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1ff7e6e5f_0_1:notes">
            <a:extLst>
              <a:ext uri="{FF2B5EF4-FFF2-40B4-BE49-F238E27FC236}">
                <a16:creationId xmlns:a16="http://schemas.microsoft.com/office/drawing/2014/main" id="{9FD7041C-90B2-AF9A-BAF9-07E263BF40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1656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2E12BF8-F7EC-E106-28BD-92FCBE5E3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ff7e6e5f_0_1:notes">
            <a:extLst>
              <a:ext uri="{FF2B5EF4-FFF2-40B4-BE49-F238E27FC236}">
                <a16:creationId xmlns:a16="http://schemas.microsoft.com/office/drawing/2014/main" id="{291EB17D-DD20-07EC-1CAB-848872E68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1ff7e6e5f_0_1:notes">
            <a:extLst>
              <a:ext uri="{FF2B5EF4-FFF2-40B4-BE49-F238E27FC236}">
                <a16:creationId xmlns:a16="http://schemas.microsoft.com/office/drawing/2014/main" id="{813471DE-6F25-4183-E6F3-FD56FCB525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075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338CD8A-9E48-E13B-8EB3-DC2129F5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ff7e6e5f_0_1:notes">
            <a:extLst>
              <a:ext uri="{FF2B5EF4-FFF2-40B4-BE49-F238E27FC236}">
                <a16:creationId xmlns:a16="http://schemas.microsoft.com/office/drawing/2014/main" id="{A130362E-EE2B-4E9F-7269-1D61BFDD97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1ff7e6e5f_0_1:notes">
            <a:extLst>
              <a:ext uri="{FF2B5EF4-FFF2-40B4-BE49-F238E27FC236}">
                <a16:creationId xmlns:a16="http://schemas.microsoft.com/office/drawing/2014/main" id="{8C4CAEDA-5B44-270D-9945-81CB1B8291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2862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151762DC-FAFA-54E6-14EB-3A853946C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ff7e6e5f_0_1:notes">
            <a:extLst>
              <a:ext uri="{FF2B5EF4-FFF2-40B4-BE49-F238E27FC236}">
                <a16:creationId xmlns:a16="http://schemas.microsoft.com/office/drawing/2014/main" id="{9B842CC9-03FF-DF22-FF35-7DE8B83712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1ff7e6e5f_0_1:notes">
            <a:extLst>
              <a:ext uri="{FF2B5EF4-FFF2-40B4-BE49-F238E27FC236}">
                <a16:creationId xmlns:a16="http://schemas.microsoft.com/office/drawing/2014/main" id="{E2A35D15-DA35-F6BE-0528-CFC56D03C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043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BED8D77-77AD-3759-5331-76F74071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ff7e6e5f_0_1:notes">
            <a:extLst>
              <a:ext uri="{FF2B5EF4-FFF2-40B4-BE49-F238E27FC236}">
                <a16:creationId xmlns:a16="http://schemas.microsoft.com/office/drawing/2014/main" id="{DB261854-18C3-68B5-4F0F-E633874C72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1ff7e6e5f_0_1:notes">
            <a:extLst>
              <a:ext uri="{FF2B5EF4-FFF2-40B4-BE49-F238E27FC236}">
                <a16:creationId xmlns:a16="http://schemas.microsoft.com/office/drawing/2014/main" id="{C70DC9F4-C451-CD48-F786-8E7A4B9D4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3668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957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4FF3CDB0-ACC0-3ED7-3347-0340F4E28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ff7e6e5f_0_1:notes">
            <a:extLst>
              <a:ext uri="{FF2B5EF4-FFF2-40B4-BE49-F238E27FC236}">
                <a16:creationId xmlns:a16="http://schemas.microsoft.com/office/drawing/2014/main" id="{EA0DF474-B261-75B2-CA10-3D421AC442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1ff7e6e5f_0_1:notes">
            <a:extLst>
              <a:ext uri="{FF2B5EF4-FFF2-40B4-BE49-F238E27FC236}">
                <a16:creationId xmlns:a16="http://schemas.microsoft.com/office/drawing/2014/main" id="{A2493298-03F9-5F2E-4305-03CC67414D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3141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1D37CC79-92D2-2203-66EF-5AE589D5E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ff7e6e5f_0_1:notes">
            <a:extLst>
              <a:ext uri="{FF2B5EF4-FFF2-40B4-BE49-F238E27FC236}">
                <a16:creationId xmlns:a16="http://schemas.microsoft.com/office/drawing/2014/main" id="{76ACCD19-F7A3-6DA0-DBF5-712F5E3A7A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1ff7e6e5f_0_1:notes">
            <a:extLst>
              <a:ext uri="{FF2B5EF4-FFF2-40B4-BE49-F238E27FC236}">
                <a16:creationId xmlns:a16="http://schemas.microsoft.com/office/drawing/2014/main" id="{C16BE32C-E797-49D6-C1B6-1A1364BAB1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830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0" y="231432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4" y="765324"/>
            <a:ext cx="8245162" cy="1106260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5" y="1871584"/>
            <a:ext cx="8245160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4463" y="4467103"/>
            <a:ext cx="213360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894" y="4463859"/>
            <a:ext cx="5187908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6233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29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1635373"/>
            <a:ext cx="8272211" cy="275872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89381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18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3856481"/>
            <a:ext cx="8468145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2282933"/>
            <a:ext cx="8272211" cy="1123130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3406063"/>
            <a:ext cx="8272211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09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5" y="1671003"/>
            <a:ext cx="4066793" cy="2724785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1671003"/>
            <a:ext cx="4066794" cy="2724785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15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5" y="1688169"/>
            <a:ext cx="3815306" cy="402004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2" y="1688169"/>
            <a:ext cx="3815305" cy="415030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893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512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547244"/>
            <a:ext cx="8272212" cy="74124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72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826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3856480"/>
            <a:ext cx="8473650" cy="9560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3946722"/>
            <a:ext cx="3682084" cy="517136"/>
          </a:xfrm>
        </p:spPr>
        <p:txBody>
          <a:bodyPr anchor="ctr"/>
          <a:lstStyle>
            <a:lvl1pPr algn="l">
              <a:defRPr sz="15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450900"/>
            <a:ext cx="8469630" cy="3153600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8" y="3946723"/>
            <a:ext cx="4402490" cy="517136"/>
          </a:xfrm>
        </p:spPr>
        <p:txBody>
          <a:bodyPr anchor="ctr">
            <a:normAutofit/>
          </a:bodyPr>
          <a:lstStyle>
            <a:lvl1pPr marL="0" indent="0" algn="r">
              <a:buNone/>
              <a:defRPr sz="825">
                <a:solidFill>
                  <a:schemeClr val="bg1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12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520042"/>
            <a:ext cx="8272212" cy="425054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449794"/>
            <a:ext cx="8468144" cy="266793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4" y="3945096"/>
            <a:ext cx="8272213" cy="449003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98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148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1" y="449794"/>
            <a:ext cx="2180113" cy="43627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506795"/>
            <a:ext cx="1503123" cy="388730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506795"/>
            <a:ext cx="5922209" cy="3887305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4467103"/>
            <a:ext cx="99610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3" y="4463859"/>
            <a:ext cx="592220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4962" y="4467103"/>
            <a:ext cx="87314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72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118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269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528843"/>
            <a:ext cx="8272212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1752002"/>
            <a:ext cx="8272212" cy="2642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34901" y="34290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31610" y="34023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3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1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5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udget-buddy-mun.vercel.app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udget-buddy-mun.vercel.app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395300" y="400185"/>
            <a:ext cx="8326500" cy="24723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 b="1" dirty="0"/>
              <a:t>Project Progress</a:t>
            </a:r>
            <a:endParaRPr sz="31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Group 6 </a:t>
            </a:r>
            <a:br>
              <a:rPr lang="en-GB" sz="2400" dirty="0"/>
            </a:b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8695"/>
              <a:buFont typeface="Arial"/>
              <a:buNone/>
            </a:pPr>
            <a:r>
              <a:rPr lang="en-GB" sz="3100" b="1" dirty="0"/>
              <a:t>Budget Buddy </a:t>
            </a:r>
            <a:br>
              <a:rPr lang="en-GB" sz="3833" dirty="0"/>
            </a:br>
            <a:endParaRPr sz="2800" i="1"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395300" y="3008580"/>
            <a:ext cx="8326500" cy="1692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bg1"/>
                </a:solidFill>
              </a:rPr>
              <a:t>Group Members:</a:t>
            </a:r>
            <a:endParaRPr sz="1400" b="1" dirty="0">
              <a:solidFill>
                <a:schemeClr val="bg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bg1"/>
                </a:solidFill>
              </a:rPr>
              <a:t>Jasleen Minhas [202481225] – Group Lead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chemeClr val="bg1"/>
                </a:solidFill>
              </a:rPr>
              <a:t>Masroor Rahman [202482239]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bg1"/>
                </a:solidFill>
              </a:rPr>
              <a:t>Sumaiya Khan [202480995]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bg1"/>
                </a:solidFill>
              </a:rPr>
              <a:t>Joel George Sam [202483190]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bg1"/>
                </a:solidFill>
              </a:rPr>
              <a:t>Kaustubh Patil [202580621]</a:t>
            </a:r>
            <a:endParaRPr sz="1400" dirty="0">
              <a:solidFill>
                <a:schemeClr val="bg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bg1"/>
                </a:solidFill>
              </a:rPr>
              <a:t>Ronit Gajjar [202488048]</a:t>
            </a:r>
            <a:endParaRPr sz="1400" dirty="0">
              <a:solidFill>
                <a:schemeClr val="bg1"/>
              </a:solidFill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81309" cy="3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0081BB-A9E9-C6D9-E70E-2A92588C003B}"/>
              </a:ext>
            </a:extLst>
          </p:cNvPr>
          <p:cNvSpPr txBox="1"/>
          <p:nvPr/>
        </p:nvSpPr>
        <p:spPr>
          <a:xfrm>
            <a:off x="1413164" y="4837851"/>
            <a:ext cx="63176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400" b="1" dirty="0">
                <a:solidFill>
                  <a:schemeClr val="accent1"/>
                </a:solidFill>
                <a:effectLst/>
                <a:latin typeface="Helvetica" pitchFamily="2" charset="0"/>
              </a:rPr>
              <a:t>COMP 6905 Software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7D8B52-34DD-2A7D-22A6-D1C3AE767E07}"/>
              </a:ext>
            </a:extLst>
          </p:cNvPr>
          <p:cNvSpPr txBox="1"/>
          <p:nvPr/>
        </p:nvSpPr>
        <p:spPr>
          <a:xfrm>
            <a:off x="2286000" y="240564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i="1" dirty="0">
                <a:solidFill>
                  <a:schemeClr val="bg1"/>
                </a:solidFill>
              </a:rPr>
              <a:t>(Finance Tracking WebApp)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90AE9-08C9-B184-DF55-8BC37FA4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D60B0-C1D4-BEFA-DB38-A9047B207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99" y="2000823"/>
            <a:ext cx="4424219" cy="2050473"/>
          </a:xfrm>
        </p:spPr>
        <p:txBody>
          <a:bodyPr>
            <a:noAutofit/>
          </a:bodyPr>
          <a:lstStyle/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en-GB" sz="2000" dirty="0">
                <a:sym typeface="Raleway Medium"/>
              </a:rPr>
              <a:t>Summary of the Project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r>
              <a:rPr lang="en-GB" sz="2000" dirty="0">
                <a:sym typeface="Raleway Medium"/>
              </a:rPr>
              <a:t>Progress to Date</a:t>
            </a:r>
          </a:p>
          <a:p>
            <a:pPr lvl="1">
              <a:spcAft>
                <a:spcPts val="0"/>
              </a:spcAft>
            </a:pPr>
            <a:r>
              <a:rPr lang="en-GB" sz="2000" dirty="0">
                <a:sym typeface="Raleway Medium"/>
              </a:rPr>
              <a:t>Completed Work</a:t>
            </a:r>
          </a:p>
          <a:p>
            <a:pPr lvl="1">
              <a:spcAft>
                <a:spcPts val="0"/>
              </a:spcAft>
            </a:pPr>
            <a:r>
              <a:rPr lang="en-GB" sz="2000" dirty="0">
                <a:sym typeface="Raleway Medium"/>
              </a:rPr>
              <a:t>Delivered Artifacts</a:t>
            </a:r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2000" dirty="0">
                <a:sym typeface="Raleway Medium"/>
              </a:rPr>
              <a:t>Glimpses of our project so far</a:t>
            </a:r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2000" dirty="0">
                <a:sym typeface="Raleway Medium"/>
              </a:rPr>
              <a:t>Challenges and Solutions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809238-EAA9-9726-201D-31A3C189745A}"/>
              </a:ext>
            </a:extLst>
          </p:cNvPr>
          <p:cNvSpPr txBox="1">
            <a:spLocks/>
          </p:cNvSpPr>
          <p:nvPr/>
        </p:nvSpPr>
        <p:spPr>
          <a:xfrm>
            <a:off x="4572000" y="1842721"/>
            <a:ext cx="4403961" cy="2366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9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3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72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5000" indent="-202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3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2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5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7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0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lt"/>
              <a:buAutoNum type="arabicPeriod" startAt="4"/>
            </a:pPr>
            <a:r>
              <a:rPr lang="en-GB" sz="2000" dirty="0">
                <a:sym typeface="Raleway Medium"/>
              </a:rPr>
              <a:t>Next Steps</a:t>
            </a:r>
          </a:p>
          <a:p>
            <a:pPr lvl="1">
              <a:spcAft>
                <a:spcPts val="0"/>
              </a:spcAft>
            </a:pPr>
            <a:r>
              <a:rPr lang="en-GB" sz="2000" dirty="0">
                <a:sym typeface="Raleway Medium"/>
              </a:rPr>
              <a:t>Goal for the Next Phase</a:t>
            </a:r>
          </a:p>
          <a:p>
            <a:pPr lvl="1">
              <a:spcAft>
                <a:spcPts val="0"/>
              </a:spcAft>
            </a:pPr>
            <a:r>
              <a:rPr lang="en-GB" sz="2000" dirty="0">
                <a:sym typeface="Raleway Medium"/>
              </a:rPr>
              <a:t>Adjustment to the Plan</a:t>
            </a:r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lt"/>
              <a:buAutoNum type="arabicPeriod" startAt="4"/>
            </a:pPr>
            <a:r>
              <a:rPr lang="en-GB" sz="2000" dirty="0">
                <a:sym typeface="Raleway Medium"/>
              </a:rPr>
              <a:t>Updated Timeline</a:t>
            </a:r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lt"/>
              <a:buAutoNum type="arabicPeriod" startAt="4"/>
            </a:pPr>
            <a:r>
              <a:rPr lang="en-GB" sz="2000" dirty="0">
                <a:sym typeface="Raleway Medium"/>
              </a:rPr>
              <a:t>Updated Team Members progress</a:t>
            </a:r>
          </a:p>
          <a:p>
            <a:pPr marL="457200" indent="-457200">
              <a:spcBef>
                <a:spcPts val="1200"/>
              </a:spcBef>
              <a:spcAft>
                <a:spcPts val="0"/>
              </a:spcAft>
              <a:buFont typeface="+mj-lt"/>
              <a:buAutoNum type="arabicPeriod" startAt="4"/>
            </a:pPr>
            <a:r>
              <a:rPr lang="en-GB" sz="2000" dirty="0">
                <a:sym typeface="Raleway Medium"/>
              </a:rPr>
              <a:t>Live Demo of the Project Progress</a:t>
            </a:r>
          </a:p>
          <a:p>
            <a:pPr marL="457200" indent="-457200">
              <a:spcAft>
                <a:spcPts val="0"/>
              </a:spcAft>
              <a:buFont typeface="+mj-lt"/>
              <a:buAutoNum type="arabicPeriod" startAt="4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3240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867995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b="1" dirty="0">
                <a:solidFill>
                  <a:schemeClr val="bg1"/>
                </a:solidFill>
              </a:rPr>
              <a:t>SUMMARY OF THE PROJECT</a:t>
            </a:r>
            <a:endParaRPr sz="4300" b="1" dirty="0">
              <a:solidFill>
                <a:schemeClr val="bg1"/>
              </a:solidFill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727650" y="794550"/>
            <a:ext cx="7688700" cy="39694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 algn="ctr">
              <a:buNone/>
            </a:pPr>
            <a:r>
              <a:rPr lang="en-IN" sz="2000" b="1" dirty="0">
                <a:cs typeface="Times New Roman" panose="02020603050405020304" pitchFamily="18" charset="0"/>
              </a:rPr>
              <a:t>BUDGET BUDDY</a:t>
            </a:r>
          </a:p>
          <a:p>
            <a:pPr marL="146050" indent="0" algn="ctr">
              <a:buNone/>
            </a:pPr>
            <a:endParaRPr lang="en-IN" sz="1600" b="1" dirty="0">
              <a:cs typeface="Times New Roman" panose="02020603050405020304" pitchFamily="18" charset="0"/>
            </a:endParaRPr>
          </a:p>
          <a:p>
            <a:pPr marL="146050" indent="0">
              <a:buNone/>
            </a:pPr>
            <a:r>
              <a:rPr lang="en-IN" sz="1600" b="1" dirty="0">
                <a:cs typeface="Times New Roman" panose="02020603050405020304" pitchFamily="18" charset="0"/>
              </a:rPr>
              <a:t>Overview of the Project:</a:t>
            </a:r>
            <a:endParaRPr lang="en-IN" sz="1600" dirty="0">
              <a:cs typeface="Times New Roman" panose="02020603050405020304" pitchFamily="18" charset="0"/>
            </a:endParaRPr>
          </a:p>
          <a:p>
            <a:pPr lvl="1"/>
            <a:r>
              <a:rPr lang="en-IN" sz="1600" i="1" dirty="0">
                <a:cs typeface="Times New Roman" panose="02020603050405020304" pitchFamily="18" charset="0"/>
              </a:rPr>
              <a:t>Budget Buddy</a:t>
            </a:r>
            <a:r>
              <a:rPr lang="en-IN" sz="1600" dirty="0">
                <a:cs typeface="Times New Roman" panose="02020603050405020304" pitchFamily="18" charset="0"/>
              </a:rPr>
              <a:t> is a </a:t>
            </a:r>
            <a:r>
              <a:rPr lang="en-IN" sz="1600" b="1" dirty="0">
                <a:cs typeface="Times New Roman" panose="02020603050405020304" pitchFamily="18" charset="0"/>
              </a:rPr>
              <a:t>personal expense management web application</a:t>
            </a:r>
            <a:r>
              <a:rPr lang="en-IN" sz="1600" dirty="0"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IN" sz="1600" dirty="0">
                <a:cs typeface="Times New Roman" panose="02020603050405020304" pitchFamily="18" charset="0"/>
              </a:rPr>
              <a:t>Helps users </a:t>
            </a:r>
            <a:r>
              <a:rPr lang="en-IN" sz="1600" b="1" dirty="0">
                <a:cs typeface="Times New Roman" panose="02020603050405020304" pitchFamily="18" charset="0"/>
              </a:rPr>
              <a:t>track, visualize, and manage</a:t>
            </a:r>
            <a:r>
              <a:rPr lang="en-IN" sz="1600" dirty="0">
                <a:cs typeface="Times New Roman" panose="02020603050405020304" pitchFamily="18" charset="0"/>
              </a:rPr>
              <a:t> their spending efficiently.</a:t>
            </a:r>
          </a:p>
          <a:p>
            <a:pPr lvl="1"/>
            <a:r>
              <a:rPr lang="en-IN" sz="1600" dirty="0">
                <a:cs typeface="Times New Roman" panose="02020603050405020304" pitchFamily="18" charset="0"/>
              </a:rPr>
              <a:t>Built with </a:t>
            </a:r>
            <a:r>
              <a:rPr lang="en-IN" sz="1600" b="1" dirty="0">
                <a:cs typeface="Times New Roman" panose="02020603050405020304" pitchFamily="18" charset="0"/>
              </a:rPr>
              <a:t>React (frontend)</a:t>
            </a:r>
            <a:r>
              <a:rPr lang="en-IN" sz="1600" dirty="0"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cs typeface="Times New Roman" panose="02020603050405020304" pitchFamily="18" charset="0"/>
              </a:rPr>
              <a:t>Firebase (backend &amp; database)</a:t>
            </a:r>
            <a:r>
              <a:rPr lang="en-IN" sz="1600" dirty="0">
                <a:cs typeface="Times New Roman" panose="02020603050405020304" pitchFamily="18" charset="0"/>
              </a:rPr>
              <a:t>.</a:t>
            </a:r>
          </a:p>
          <a:p>
            <a:pPr marL="586293" lvl="1" indent="0">
              <a:buClr>
                <a:srgbClr val="000000"/>
              </a:buClr>
              <a:buSzPct val="100000"/>
              <a:buNone/>
            </a:pPr>
            <a:endParaRPr lang="en-GB" sz="1600" dirty="0">
              <a:solidFill>
                <a:srgbClr val="000000"/>
              </a:solidFill>
              <a:ea typeface="Arial"/>
              <a:cs typeface="Times New Roman" panose="02020603050405020304" pitchFamily="18" charset="0"/>
              <a:sym typeface="Arial"/>
            </a:endParaRPr>
          </a:p>
          <a:p>
            <a:pPr marL="146050" indent="0">
              <a:buNone/>
            </a:pPr>
            <a:r>
              <a:rPr lang="en-IN" sz="1600" b="1" dirty="0">
                <a:cs typeface="Times New Roman" panose="02020603050405020304" pitchFamily="18" charset="0"/>
              </a:rPr>
              <a:t>Key Features:</a:t>
            </a:r>
          </a:p>
          <a:p>
            <a:pPr lvl="1"/>
            <a:r>
              <a:rPr lang="en-IN" sz="1600" b="1" dirty="0">
                <a:cs typeface="Times New Roman" panose="02020603050405020304" pitchFamily="18" charset="0"/>
              </a:rPr>
              <a:t>Login and Signup </a:t>
            </a:r>
            <a:r>
              <a:rPr lang="en-IN" sz="1600" dirty="0">
                <a:cs typeface="Times New Roman" panose="02020603050405020304" pitchFamily="18" charset="0"/>
              </a:rPr>
              <a:t>authentication</a:t>
            </a:r>
          </a:p>
          <a:p>
            <a:pPr lvl="1"/>
            <a:r>
              <a:rPr lang="en-IN" sz="1600" b="1" dirty="0">
                <a:cs typeface="Times New Roman" panose="02020603050405020304" pitchFamily="18" charset="0"/>
              </a:rPr>
              <a:t>Add, Edit, Delete Expenses</a:t>
            </a:r>
            <a:r>
              <a:rPr lang="en-IN" sz="1600" dirty="0">
                <a:cs typeface="Times New Roman" panose="02020603050405020304" pitchFamily="18" charset="0"/>
              </a:rPr>
              <a:t> easily</a:t>
            </a:r>
          </a:p>
          <a:p>
            <a:pPr lvl="1"/>
            <a:r>
              <a:rPr lang="en-IN" sz="1600" b="1" dirty="0">
                <a:cs typeface="Times New Roman" panose="02020603050405020304" pitchFamily="18" charset="0"/>
              </a:rPr>
              <a:t>Categorize Transactions</a:t>
            </a:r>
            <a:r>
              <a:rPr lang="en-IN" sz="1600" dirty="0">
                <a:cs typeface="Times New Roman" panose="02020603050405020304" pitchFamily="18" charset="0"/>
              </a:rPr>
              <a:t> for better organization</a:t>
            </a:r>
          </a:p>
          <a:p>
            <a:pPr lvl="1"/>
            <a:r>
              <a:rPr lang="en-IN" sz="1600" b="1" dirty="0">
                <a:cs typeface="Times New Roman" panose="02020603050405020304" pitchFamily="18" charset="0"/>
              </a:rPr>
              <a:t>Interactive Dashboards &amp; Charts</a:t>
            </a:r>
            <a:r>
              <a:rPr lang="en-IN" sz="1600" dirty="0">
                <a:cs typeface="Times New Roman" panose="02020603050405020304" pitchFamily="18" charset="0"/>
              </a:rPr>
              <a:t> for expense insights</a:t>
            </a:r>
          </a:p>
          <a:p>
            <a:pPr lvl="1"/>
            <a:r>
              <a:rPr lang="en-IN" sz="1600" b="1" dirty="0">
                <a:cs typeface="Times New Roman" panose="02020603050405020304" pitchFamily="18" charset="0"/>
              </a:rPr>
              <a:t>Export Reports as PDF</a:t>
            </a:r>
            <a:r>
              <a:rPr lang="en-IN" sz="1600" dirty="0">
                <a:cs typeface="Times New Roman" panose="02020603050405020304" pitchFamily="18" charset="0"/>
              </a:rPr>
              <a:t> for record keeping and sharing</a:t>
            </a:r>
          </a:p>
          <a:p>
            <a:pPr lvl="1"/>
            <a:r>
              <a:rPr lang="en-IN" sz="1600" b="1" dirty="0">
                <a:cs typeface="Times New Roman" panose="02020603050405020304" pitchFamily="18" charset="0"/>
              </a:rPr>
              <a:t>Responsive Design</a:t>
            </a:r>
            <a:r>
              <a:rPr lang="en-IN" sz="1600" dirty="0">
                <a:cs typeface="Times New Roman" panose="02020603050405020304" pitchFamily="18" charset="0"/>
              </a:rPr>
              <a:t> optimized for mobile and desktop</a:t>
            </a:r>
          </a:p>
          <a:p>
            <a:pPr marL="615950" lvl="1" indent="0">
              <a:buNone/>
            </a:pPr>
            <a:endParaRPr lang="en-IN" sz="1600" dirty="0">
              <a:cs typeface="Times New Roman" panose="02020603050405020304" pitchFamily="18" charset="0"/>
            </a:endParaRPr>
          </a:p>
          <a:p>
            <a:pPr lvl="1"/>
            <a:endParaRPr lang="en-IN" sz="1600" dirty="0">
              <a:cs typeface="Times New Roman" panose="02020603050405020304" pitchFamily="18" charset="0"/>
            </a:endParaRPr>
          </a:p>
          <a:p>
            <a:pPr lvl="1"/>
            <a:endParaRPr lang="en-IN" sz="1600" dirty="0">
              <a:cs typeface="Times New Roman" panose="02020603050405020304" pitchFamily="18" charset="0"/>
            </a:endParaRPr>
          </a:p>
          <a:p>
            <a:pPr marL="586293" lvl="1" indent="0">
              <a:buClr>
                <a:srgbClr val="000000"/>
              </a:buClr>
              <a:buSzPct val="100000"/>
              <a:buNone/>
            </a:pPr>
            <a:br>
              <a:rPr lang="en-GB" sz="1600" dirty="0">
                <a:solidFill>
                  <a:srgbClr val="000000"/>
                </a:solidFill>
                <a:ea typeface="Arial"/>
                <a:cs typeface="Times New Roman" panose="02020603050405020304" pitchFamily="18" charset="0"/>
                <a:sym typeface="Arial"/>
              </a:rPr>
            </a:br>
            <a:endParaRPr sz="1600" dirty="0">
              <a:solidFill>
                <a:srgbClr val="000000"/>
              </a:solidFill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cs typeface="Times New Roman" panose="02020603050405020304" pitchFamily="18" charset="0"/>
            </a:endParaRPr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81309" cy="33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phic 2" descr="Coins outline">
            <a:extLst>
              <a:ext uri="{FF2B5EF4-FFF2-40B4-BE49-F238E27FC236}">
                <a16:creationId xmlns:a16="http://schemas.microsoft.com/office/drawing/2014/main" id="{0358AC9C-B326-D54E-7454-09177A56B1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55108" y="4095963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727650" y="1275425"/>
            <a:ext cx="7688700" cy="31634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1"/>
            <a:r>
              <a:rPr lang="en-IN" sz="1800" b="1" dirty="0"/>
              <a:t>Tech Stack:</a:t>
            </a:r>
            <a:r>
              <a:rPr lang="en-IN" sz="1800" dirty="0"/>
              <a:t> </a:t>
            </a:r>
            <a:r>
              <a:rPr lang="en-IN" sz="1800" dirty="0" err="1"/>
              <a:t>Reactjs</a:t>
            </a:r>
            <a:r>
              <a:rPr lang="en-IN" sz="1800" dirty="0"/>
              <a:t> + Firebase</a:t>
            </a:r>
          </a:p>
          <a:p>
            <a:pPr lvl="1"/>
            <a:endParaRPr lang="en-IN" sz="1800" dirty="0"/>
          </a:p>
          <a:p>
            <a:pPr lvl="1"/>
            <a:r>
              <a:rPr lang="en-IN" sz="1800" b="1" dirty="0"/>
              <a:t>Methodology:</a:t>
            </a:r>
            <a:r>
              <a:rPr lang="en-IN" sz="1800" dirty="0"/>
              <a:t> Agile (5 Sprints, 2 weeks each)</a:t>
            </a:r>
          </a:p>
          <a:p>
            <a:pPr lvl="1"/>
            <a:endParaRPr lang="en-IN" sz="1800" dirty="0"/>
          </a:p>
          <a:p>
            <a:pPr lvl="1"/>
            <a:r>
              <a:rPr lang="en-IN" sz="1800" b="1" dirty="0"/>
              <a:t>Live App:</a:t>
            </a:r>
            <a:r>
              <a:rPr lang="en-IN" sz="1800" dirty="0"/>
              <a:t> </a:t>
            </a:r>
            <a:r>
              <a:rPr lang="en-IN" sz="1800" dirty="0">
                <a:hlinkClick r:id="rId3"/>
              </a:rPr>
              <a:t>Budget Buddy Live</a:t>
            </a:r>
            <a:endParaRPr lang="en-IN" sz="1800" dirty="0"/>
          </a:p>
          <a:p>
            <a:pPr lvl="1"/>
            <a:endParaRPr lang="en-IN" sz="1800" dirty="0"/>
          </a:p>
          <a:p>
            <a:pPr lvl="1"/>
            <a:r>
              <a:rPr lang="en-IN" sz="1800" b="1" dirty="0"/>
              <a:t>CI/CD:</a:t>
            </a:r>
            <a:r>
              <a:rPr lang="en-IN" sz="1800" dirty="0"/>
              <a:t> Setup completed and deployment live on </a:t>
            </a:r>
            <a:r>
              <a:rPr lang="en-IN" sz="1800" b="1" dirty="0" err="1"/>
              <a:t>Vercel</a:t>
            </a:r>
            <a:endParaRPr lang="en-IN" sz="1800" b="1" dirty="0"/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581309" cy="33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phic 4" descr="Presentation with bar chart with solid fill">
            <a:extLst>
              <a:ext uri="{FF2B5EF4-FFF2-40B4-BE49-F238E27FC236}">
                <a16:creationId xmlns:a16="http://schemas.microsoft.com/office/drawing/2014/main" id="{96A7FD18-B504-EC1F-5EBE-3920BF403B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2270" y="3538963"/>
            <a:ext cx="1469255" cy="1469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CFBC5041-11C0-6031-9736-FD3DD5BE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DCC0F7A3-F36B-EAB3-A997-675C1942DD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995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b="1" dirty="0">
                <a:sym typeface="Raleway Medium"/>
              </a:rPr>
              <a:t>Progress to Date</a:t>
            </a:r>
            <a:br>
              <a:rPr lang="en-GB" b="1" dirty="0">
                <a:sym typeface="Raleway Medium"/>
              </a:rPr>
            </a:b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3D78369E-3689-883A-3E9B-C4195E4DA2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800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1AED-BFAB-8C63-A253-DAF7A965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Progress to Date (Iteration 1–2)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E4399-3C08-3A0D-CBAA-CF94BD162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94" y="1427983"/>
            <a:ext cx="8272211" cy="3311531"/>
          </a:xfrm>
        </p:spPr>
        <p:txBody>
          <a:bodyPr>
            <a:normAutofit/>
          </a:bodyPr>
          <a:lstStyle/>
          <a:p>
            <a:r>
              <a:rPr lang="en-IN" sz="1600" b="1" dirty="0"/>
              <a:t>Iteration 1 (Sept 22 – Oct 5): Setup &amp; Requirements - </a:t>
            </a:r>
            <a:r>
              <a:rPr lang="en-IN" sz="1600" dirty="0"/>
              <a:t>✅ Completed</a:t>
            </a:r>
          </a:p>
          <a:p>
            <a:r>
              <a:rPr lang="en-IN" sz="1600" dirty="0"/>
              <a:t>GitHub repo setup, team roles, requirements gathering, UML diagrams, Firebase project setup</a:t>
            </a:r>
          </a:p>
          <a:p>
            <a:r>
              <a:rPr lang="en-IN" sz="1600" b="1" dirty="0"/>
              <a:t>Artifacts:</a:t>
            </a:r>
            <a:r>
              <a:rPr lang="en-IN" sz="1600" dirty="0"/>
              <a:t> Requirement docs, UML diagrams</a:t>
            </a:r>
          </a:p>
          <a:p>
            <a:endParaRPr lang="en-IN" sz="1600" dirty="0"/>
          </a:p>
          <a:p>
            <a:r>
              <a:rPr lang="en-IN" sz="1600" b="1" dirty="0"/>
              <a:t>Iteration 2 (Oct 6 – Oct 19): Authentication &amp; Deployment - </a:t>
            </a:r>
            <a:r>
              <a:rPr lang="en-IN" sz="1600" dirty="0"/>
              <a:t>✅ Completed</a:t>
            </a:r>
          </a:p>
          <a:p>
            <a:r>
              <a:rPr lang="en-IN" sz="1600" dirty="0"/>
              <a:t>Login/Signup/Logout, Firebase Auth, Landing Page, CI/CD setup &amp; deployment</a:t>
            </a:r>
          </a:p>
          <a:p>
            <a:r>
              <a:rPr lang="en-IN" sz="1600" b="1" dirty="0"/>
              <a:t>Artifacts:</a:t>
            </a:r>
            <a:r>
              <a:rPr lang="en-IN" sz="1600" dirty="0"/>
              <a:t> Auth screens, Landing page, Unit tests, Deployment Logs, Live app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1917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638D4-4176-CE49-50E6-54C64DCEB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Progress to Date (Iteration 3–4)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79A22-836B-9EDC-94CE-1F4E9C56A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94" y="1617950"/>
            <a:ext cx="8272211" cy="2998933"/>
          </a:xfrm>
        </p:spPr>
        <p:txBody>
          <a:bodyPr>
            <a:noAutofit/>
          </a:bodyPr>
          <a:lstStyle/>
          <a:p>
            <a:r>
              <a:rPr lang="en-IN" sz="1600" b="1" dirty="0"/>
              <a:t>Iteration 3 (Oct 20 – Nov 2): Expense &amp; Category Management - </a:t>
            </a:r>
            <a:r>
              <a:rPr lang="en-IN" sz="1600" dirty="0"/>
              <a:t>🟡 Partially Completed</a:t>
            </a:r>
          </a:p>
          <a:p>
            <a:r>
              <a:rPr lang="en-IN" sz="1600" dirty="0"/>
              <a:t>Expense CRUD, Firebase integration, unit tests</a:t>
            </a:r>
          </a:p>
          <a:p>
            <a:r>
              <a:rPr lang="en-IN" sz="1600" b="1" dirty="0"/>
              <a:t>Artifacts:</a:t>
            </a:r>
            <a:r>
              <a:rPr lang="en-IN" sz="1600" dirty="0"/>
              <a:t> Expense page Completed, Category page in progress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b="1" dirty="0"/>
              <a:t>Iteration 4 (Nov 3 – Nov 16): Dashboard &amp; Reporting - </a:t>
            </a:r>
            <a:r>
              <a:rPr lang="en-IN" sz="1600" dirty="0"/>
              <a:t>⏳ Planned</a:t>
            </a:r>
          </a:p>
          <a:p>
            <a:r>
              <a:rPr lang="en-IN" sz="1600" dirty="0"/>
              <a:t>Dashboard layout, charts, expense summary, PDF/CSV export, unit tests</a:t>
            </a:r>
          </a:p>
          <a:p>
            <a:r>
              <a:rPr lang="en-IN" sz="1600" b="1" dirty="0"/>
              <a:t>Artifacts:</a:t>
            </a:r>
            <a:r>
              <a:rPr lang="en-IN" sz="1600" dirty="0"/>
              <a:t> Dashboard </a:t>
            </a:r>
            <a:r>
              <a:rPr lang="en-IN" sz="1600" dirty="0" err="1"/>
              <a:t>Mockups</a:t>
            </a:r>
            <a:r>
              <a:rPr lang="en-IN" sz="1600" dirty="0"/>
              <a:t>, Report Generation Planned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285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CA1D2B41-5C58-F099-0DA2-6E4ABBDD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1A320562-11BE-738B-4DAB-FC41AE4DC3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995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b="1" dirty="0">
                <a:sym typeface="Raleway Medium"/>
              </a:rPr>
              <a:t>GLIMPSES OF OUR PROJECT</a:t>
            </a:r>
            <a:br>
              <a:rPr lang="en-GB" b="1" dirty="0">
                <a:sym typeface="Raleway Medium"/>
              </a:rPr>
            </a:br>
            <a:r>
              <a:rPr lang="en-GB" b="1" dirty="0">
                <a:sym typeface="Raleway Medium"/>
              </a:rPr>
              <a:t>SO FAR</a:t>
            </a:r>
            <a:br>
              <a:rPr lang="en-GB" b="1" dirty="0">
                <a:sym typeface="Raleway Medium"/>
              </a:rPr>
            </a:b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34986AD3-7797-1592-480F-35A2DB8A186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8913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93A02-E854-C853-B568-B0B12AAE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Use case diagram </a:t>
            </a:r>
            <a:r>
              <a:rPr lang="en-US" sz="1400" dirty="0"/>
              <a:t>(Done in the Requirements phase)</a:t>
            </a:r>
          </a:p>
        </p:txBody>
      </p:sp>
      <p:pic>
        <p:nvPicPr>
          <p:cNvPr id="5" name="Content Placeholder 4" descr="A diagram of a data flow&#10;&#10;AI-generated content may be incorrect.">
            <a:extLst>
              <a:ext uri="{FF2B5EF4-FFF2-40B4-BE49-F238E27FC236}">
                <a16:creationId xmlns:a16="http://schemas.microsoft.com/office/drawing/2014/main" id="{DC060B4F-202E-AC8A-CC07-0321E2B1C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251" y="1378943"/>
            <a:ext cx="2895276" cy="3769186"/>
          </a:xfrm>
        </p:spPr>
      </p:pic>
      <p:pic>
        <p:nvPicPr>
          <p:cNvPr id="9" name="Picture 8" descr="A diagram of a person&#10;&#10;AI-generated content may be incorrect.">
            <a:extLst>
              <a:ext uri="{FF2B5EF4-FFF2-40B4-BE49-F238E27FC236}">
                <a16:creationId xmlns:a16="http://schemas.microsoft.com/office/drawing/2014/main" id="{B09285C8-6775-D3DD-64C0-2FFAD80E4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70581"/>
            <a:ext cx="3498591" cy="367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8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DA06C-6E05-3E4C-0389-CF784C2D6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LANDING PAGE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56BA54-77BC-ECE8-8885-432DB4B49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8947" y="1559710"/>
            <a:ext cx="6006106" cy="336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38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57C3B-9DD1-FFA3-B825-5FEA8248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lOGIN</a:t>
            </a:r>
            <a:r>
              <a:rPr lang="en-US" dirty="0"/>
              <a:t> AND SIGNUP PAGE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DFD645-A222-5C3B-2E09-15E419A17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9169" r="24369"/>
          <a:stretch>
            <a:fillRect/>
          </a:stretch>
        </p:blipFill>
        <p:spPr>
          <a:xfrm>
            <a:off x="530352" y="1502367"/>
            <a:ext cx="3383280" cy="3358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07ACA5-ACE9-D328-2DA9-9D163E3947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75" r="19250"/>
          <a:stretch>
            <a:fillRect/>
          </a:stretch>
        </p:blipFill>
        <p:spPr>
          <a:xfrm>
            <a:off x="4352544" y="1502366"/>
            <a:ext cx="3511295" cy="335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6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65435-441B-BA57-64C6-E2AAF48C1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Expenses page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A529D1-372D-84F0-543D-46A5002A1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264" y="1456016"/>
            <a:ext cx="6345471" cy="355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33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165EC-895E-9954-BA87-D9EEAE59E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 expense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66DD0E-399B-D037-1ECA-AED1ECA85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2130" y="1446590"/>
            <a:ext cx="6439739" cy="360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2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6C7B-70BB-9649-1577-B6FEB8514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firebase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C9315E-95CC-DACF-C319-7DE6C864A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493" y="1571214"/>
            <a:ext cx="3846153" cy="2760951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E14517-C489-EE52-F095-661506D876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951"/>
          <a:stretch>
            <a:fillRect/>
          </a:stretch>
        </p:blipFill>
        <p:spPr>
          <a:xfrm>
            <a:off x="4355184" y="1571214"/>
            <a:ext cx="4468322" cy="276095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9E76A-24CC-A9F2-9A1C-219DDC961141}"/>
              </a:ext>
            </a:extLst>
          </p:cNvPr>
          <p:cNvSpPr txBox="1">
            <a:spLocks/>
          </p:cNvSpPr>
          <p:nvPr/>
        </p:nvSpPr>
        <p:spPr>
          <a:xfrm>
            <a:off x="862150" y="4621075"/>
            <a:ext cx="7845956" cy="5224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9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3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72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5000" indent="-202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3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2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5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7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0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The image depicts a Firebase user management interface showing email addresses, providers, creation dates, sign-in dates, and unique user IDs.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7390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ABEB63B-5831-FECB-5B4F-A409EFFBA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0304CE19-B4C1-7912-590F-E4B1FD76A0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995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b="1" dirty="0">
                <a:sym typeface="Raleway Medium"/>
              </a:rPr>
              <a:t>Challenges faced in the initial iterations </a:t>
            </a:r>
            <a:br>
              <a:rPr lang="en-GB" b="1" dirty="0">
                <a:sym typeface="Raleway Medium"/>
              </a:rPr>
            </a:br>
            <a:r>
              <a:rPr lang="en-GB" b="1" dirty="0">
                <a:sym typeface="Raleway Medium"/>
              </a:rPr>
              <a:t>AND </a:t>
            </a:r>
            <a:br>
              <a:rPr lang="en-GB" b="1" dirty="0">
                <a:sym typeface="Raleway Medium"/>
              </a:rPr>
            </a:br>
            <a:r>
              <a:rPr lang="en-GB" b="1" dirty="0">
                <a:sym typeface="Raleway Medium"/>
              </a:rPr>
              <a:t>proposed SOLUTIONs to those</a:t>
            </a:r>
            <a:br>
              <a:rPr lang="en-GB" b="1" dirty="0">
                <a:sym typeface="Raleway Medium"/>
              </a:rPr>
            </a:b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46026CCD-FA19-80AC-8B89-F1F0DD1004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643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DBD4729-DBDF-40A6-9BA4-E4C97EF6D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125130-F4AB-465E-8AE2-E583FCAAB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BA65A2-0302-4468-ADA7-9EC3F9593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C266B9D-DC87-430A-8D3A-2E83639A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282F36-261B-49B3-8CA9-FB857C475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1566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7215C3-3B83-4BE7-9213-26E084BD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3255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A105D4-2907-419E-8223-4C266BA1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EE7F17-8E08-4C69-8E22-661908E6D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899" y="4405256"/>
            <a:ext cx="8472550" cy="38766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AD8032-298B-1103-2CD3-2F8F342062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383352"/>
              </p:ext>
            </p:extLst>
          </p:nvPr>
        </p:nvGraphicFramePr>
        <p:xfrm>
          <a:off x="684184" y="449793"/>
          <a:ext cx="7669458" cy="3894269"/>
        </p:xfrm>
        <a:graphic>
          <a:graphicData uri="http://schemas.openxmlformats.org/drawingml/2006/table">
            <a:tbl>
              <a:tblPr>
                <a:tableStyleId>{D36D93E0-FE57-40B0-AAFF-2FD2DFCAAC05}</a:tableStyleId>
              </a:tblPr>
              <a:tblGrid>
                <a:gridCol w="2466476">
                  <a:extLst>
                    <a:ext uri="{9D8B030D-6E8A-4147-A177-3AD203B41FA5}">
                      <a16:colId xmlns:a16="http://schemas.microsoft.com/office/drawing/2014/main" val="1105428260"/>
                    </a:ext>
                  </a:extLst>
                </a:gridCol>
                <a:gridCol w="2605246">
                  <a:extLst>
                    <a:ext uri="{9D8B030D-6E8A-4147-A177-3AD203B41FA5}">
                      <a16:colId xmlns:a16="http://schemas.microsoft.com/office/drawing/2014/main" val="3246953203"/>
                    </a:ext>
                  </a:extLst>
                </a:gridCol>
                <a:gridCol w="2597736">
                  <a:extLst>
                    <a:ext uri="{9D8B030D-6E8A-4147-A177-3AD203B41FA5}">
                      <a16:colId xmlns:a16="http://schemas.microsoft.com/office/drawing/2014/main" val="2918709580"/>
                    </a:ext>
                  </a:extLst>
                </a:gridCol>
              </a:tblGrid>
              <a:tr h="362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Challenge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Description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Solution</a:t>
                      </a:r>
                    </a:p>
                  </a:txBody>
                  <a:tcPr marL="85158" marR="85158" marT="42579" marB="42579" anchor="ctr"/>
                </a:tc>
                <a:extLst>
                  <a:ext uri="{0D108BD9-81ED-4DB2-BD59-A6C34878D82A}">
                    <a16:rowId xmlns:a16="http://schemas.microsoft.com/office/drawing/2014/main" val="3302541077"/>
                  </a:ext>
                </a:extLst>
              </a:tr>
              <a:tr h="610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GitHub Collaboration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Difficulties managing commits/branches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Team session + branching guide from </a:t>
                      </a:r>
                      <a:r>
                        <a:rPr lang="en-IN" sz="1300" dirty="0" err="1"/>
                        <a:t>Github</a:t>
                      </a:r>
                      <a:endParaRPr lang="en-IN" sz="1300" dirty="0"/>
                    </a:p>
                  </a:txBody>
                  <a:tcPr marL="85158" marR="85158" marT="42579" marB="42579" anchor="ctr"/>
                </a:tc>
                <a:extLst>
                  <a:ext uri="{0D108BD9-81ED-4DB2-BD59-A6C34878D82A}">
                    <a16:rowId xmlns:a16="http://schemas.microsoft.com/office/drawing/2014/main" val="1589557250"/>
                  </a:ext>
                </a:extLst>
              </a:tr>
              <a:tr h="610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Wrong Commits/Merge Conflicts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Overlapping work caused issues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Peer review policy</a:t>
                      </a:r>
                    </a:p>
                  </a:txBody>
                  <a:tcPr marL="85158" marR="85158" marT="42579" marB="42579" anchor="ctr"/>
                </a:tc>
                <a:extLst>
                  <a:ext uri="{0D108BD9-81ED-4DB2-BD59-A6C34878D82A}">
                    <a16:rowId xmlns:a16="http://schemas.microsoft.com/office/drawing/2014/main" val="185411331"/>
                  </a:ext>
                </a:extLst>
              </a:tr>
              <a:tr h="466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Working on Main Branch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Accidental direct commits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Protected the main branch, Just the team lead can do that</a:t>
                      </a:r>
                    </a:p>
                  </a:txBody>
                  <a:tcPr marL="85158" marR="85158" marT="42579" marB="42579" anchor="ctr"/>
                </a:tc>
                <a:extLst>
                  <a:ext uri="{0D108BD9-81ED-4DB2-BD59-A6C34878D82A}">
                    <a16:rowId xmlns:a16="http://schemas.microsoft.com/office/drawing/2014/main" val="197133186"/>
                  </a:ext>
                </a:extLst>
              </a:tr>
              <a:tr h="610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Wrong Issue References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Incorrect issue numbers in commits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Standard commit message format + Pair programming</a:t>
                      </a:r>
                    </a:p>
                  </a:txBody>
                  <a:tcPr marL="85158" marR="85158" marT="42579" marB="42579" anchor="ctr"/>
                </a:tc>
                <a:extLst>
                  <a:ext uri="{0D108BD9-81ED-4DB2-BD59-A6C34878D82A}">
                    <a16:rowId xmlns:a16="http://schemas.microsoft.com/office/drawing/2014/main" val="4013791109"/>
                  </a:ext>
                </a:extLst>
              </a:tr>
              <a:tr h="610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Code Crashes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Integration errors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Local testing before commits</a:t>
                      </a:r>
                    </a:p>
                  </a:txBody>
                  <a:tcPr marL="85158" marR="85158" marT="42579" marB="42579" anchor="ctr"/>
                </a:tc>
                <a:extLst>
                  <a:ext uri="{0D108BD9-81ED-4DB2-BD59-A6C34878D82A}">
                    <a16:rowId xmlns:a16="http://schemas.microsoft.com/office/drawing/2014/main" val="3396296030"/>
                  </a:ext>
                </a:extLst>
              </a:tr>
              <a:tr h="610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Task Coordination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Aligning timelines</a:t>
                      </a:r>
                    </a:p>
                  </a:txBody>
                  <a:tcPr marL="85158" marR="85158" marT="42579" marB="425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GitHub Projects + weekly sync meetings</a:t>
                      </a:r>
                    </a:p>
                  </a:txBody>
                  <a:tcPr marL="85158" marR="85158" marT="42579" marB="42579" anchor="ctr"/>
                </a:tc>
                <a:extLst>
                  <a:ext uri="{0D108BD9-81ED-4DB2-BD59-A6C34878D82A}">
                    <a16:rowId xmlns:a16="http://schemas.microsoft.com/office/drawing/2014/main" val="701674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6412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A2B2AD8B-779D-74CC-D840-DB54DEFA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EF3D0200-BC3A-EC87-8C3A-CD8284123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995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b="1" dirty="0">
                <a:sym typeface="Raleway Medium"/>
              </a:rPr>
              <a:t>Next steps</a:t>
            </a:r>
            <a:br>
              <a:rPr lang="en-GB" b="1" dirty="0">
                <a:sym typeface="Raleway Medium"/>
              </a:rPr>
            </a:b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E9617BD3-3787-03FF-703D-5EFB643507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5853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AB20-5D35-26E4-DD88-77B18B7E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0FC0D-E355-9C48-58C3-E4DC364431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5895" y="1671003"/>
            <a:ext cx="7845956" cy="3310300"/>
          </a:xfrm>
        </p:spPr>
        <p:txBody>
          <a:bodyPr>
            <a:noAutofit/>
          </a:bodyPr>
          <a:lstStyle/>
          <a:p>
            <a:r>
              <a:rPr lang="en-IN" sz="1800" dirty="0"/>
              <a:t>Complete Category Management Page</a:t>
            </a:r>
          </a:p>
          <a:p>
            <a:r>
              <a:rPr lang="en-IN" sz="1800" dirty="0"/>
              <a:t>Dashboard visualization (</a:t>
            </a:r>
            <a:r>
              <a:rPr lang="en-IN" sz="1800" dirty="0" err="1"/>
              <a:t>Chart.js</a:t>
            </a:r>
            <a:r>
              <a:rPr lang="en-IN" sz="1800" dirty="0"/>
              <a:t>: Pie &amp; Bar charts)</a:t>
            </a:r>
          </a:p>
          <a:p>
            <a:r>
              <a:rPr lang="en-IN" sz="1800" dirty="0"/>
              <a:t>Report export (PDF/CSV using </a:t>
            </a:r>
            <a:r>
              <a:rPr lang="en-IN" sz="1800" dirty="0" err="1"/>
              <a:t>jsPDF</a:t>
            </a:r>
            <a:r>
              <a:rPr lang="en-IN" sz="1800" dirty="0"/>
              <a:t> + html2canvas)</a:t>
            </a:r>
          </a:p>
          <a:p>
            <a:r>
              <a:rPr lang="en-IN" sz="1800" dirty="0"/>
              <a:t>Budget Summary Section (monthly totals, category stats)</a:t>
            </a:r>
          </a:p>
          <a:p>
            <a:r>
              <a:rPr lang="en-IN" sz="1800" dirty="0"/>
              <a:t>Integration &amp; regression testing</a:t>
            </a:r>
          </a:p>
          <a:p>
            <a:r>
              <a:rPr lang="en-IN" sz="1800" dirty="0"/>
              <a:t>Finalize documentation &amp; presentation slides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2781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CFAB5-090B-65EA-E8BD-9967FCE2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Adjustments to Plan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41B0F9E-8DB0-9C11-FF36-E3B9FA53B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3465" y="1735011"/>
            <a:ext cx="4066793" cy="2724785"/>
          </a:xfrm>
        </p:spPr>
        <p:txBody>
          <a:bodyPr>
            <a:normAutofit/>
          </a:bodyPr>
          <a:lstStyle/>
          <a:p>
            <a:r>
              <a:rPr lang="en-IN" sz="1800" dirty="0"/>
              <a:t>CI/CD integrated earlier</a:t>
            </a:r>
          </a:p>
          <a:p>
            <a:r>
              <a:rPr lang="en-IN" sz="1800" dirty="0"/>
              <a:t>Live deployment on </a:t>
            </a:r>
            <a:r>
              <a:rPr lang="en-IN" sz="1800" dirty="0" err="1"/>
              <a:t>Vercel</a:t>
            </a:r>
            <a:endParaRPr lang="en-IN" sz="1800" dirty="0"/>
          </a:p>
          <a:p>
            <a:r>
              <a:rPr lang="en-IN" sz="1800" dirty="0"/>
              <a:t>Auto-deploy on </a:t>
            </a:r>
          </a:p>
          <a:p>
            <a:pPr marL="0" indent="0">
              <a:buNone/>
            </a:pPr>
            <a:r>
              <a:rPr lang="en-IN" sz="1800" dirty="0"/>
              <a:t>main branch pushes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3C44DB-7B4E-32BD-917C-A2E947D0D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054" y="1671003"/>
            <a:ext cx="5493481" cy="307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84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0CCCE92-7B3F-BB2A-9FD0-7844E8B3D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E8736D11-C850-EBE3-CBEB-6F686F0254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995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b="1" dirty="0">
                <a:sym typeface="Raleway Medium"/>
              </a:rPr>
              <a:t>Updated Timeline</a:t>
            </a:r>
            <a:br>
              <a:rPr lang="en-GB" b="1" dirty="0">
                <a:sym typeface="Raleway Medium"/>
              </a:rPr>
            </a:br>
            <a:br>
              <a:rPr lang="en-GB" b="1" dirty="0">
                <a:sym typeface="Raleway Medium"/>
              </a:rPr>
            </a:br>
            <a:r>
              <a:rPr lang="en-GB" sz="2000" b="1" dirty="0">
                <a:sym typeface="Raleway Medium"/>
              </a:rPr>
              <a:t>The issues we have completed and in progress</a:t>
            </a:r>
            <a:br>
              <a:rPr lang="en-GB" sz="2000" b="1" dirty="0">
                <a:sym typeface="Raleway Medium"/>
              </a:rPr>
            </a:br>
            <a:endParaRPr sz="2000" b="1" dirty="0">
              <a:solidFill>
                <a:schemeClr val="bg1"/>
              </a:solidFill>
            </a:endParaRPr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EBAB4D47-410D-0D0F-E0D3-901D4989D6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1638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7D26DA-9773-4A0E-B213-DDF20A1F1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D2C86F-1F48-8DA5-CD3A-17A83C3A0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420" y="214222"/>
            <a:ext cx="6763243" cy="4836395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AEAF964-8EC5-B7BF-DFC0-31EDEA8632FE}"/>
              </a:ext>
            </a:extLst>
          </p:cNvPr>
          <p:cNvSpPr txBox="1">
            <a:spLocks/>
          </p:cNvSpPr>
          <p:nvPr/>
        </p:nvSpPr>
        <p:spPr>
          <a:xfrm>
            <a:off x="139337" y="1567543"/>
            <a:ext cx="2203269" cy="2892253"/>
          </a:xfrm>
          <a:prstGeom prst="rect">
            <a:avLst/>
          </a:prstGeom>
        </p:spPr>
        <p:txBody>
          <a:bodyPr>
            <a:normAutofit/>
          </a:bodyPr>
          <a:lstStyle>
            <a:lvl1pPr marL="229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3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72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5000" indent="-202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3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2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5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7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0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Our </a:t>
            </a:r>
            <a:r>
              <a:rPr lang="en-IN" sz="1800" dirty="0" err="1"/>
              <a:t>Github</a:t>
            </a:r>
            <a:r>
              <a:rPr lang="en-IN" sz="1800" dirty="0"/>
              <a:t> Planning board</a:t>
            </a:r>
          </a:p>
          <a:p>
            <a:r>
              <a:rPr lang="en-IN" sz="1800" dirty="0"/>
              <a:t>Iteration 1 and 2 issues are all completed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35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9FA83-B476-B70F-5550-56B6889A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87D26DA-9773-4A0E-B213-DDF20A1F1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18FA998E-4246-6CCF-8A5D-661CD658D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464" y="201357"/>
            <a:ext cx="6818341" cy="474078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EF84F-B513-3E49-6542-2F62FF1A55F7}"/>
              </a:ext>
            </a:extLst>
          </p:cNvPr>
          <p:cNvSpPr txBox="1">
            <a:spLocks/>
          </p:cNvSpPr>
          <p:nvPr/>
        </p:nvSpPr>
        <p:spPr>
          <a:xfrm>
            <a:off x="150829" y="1532709"/>
            <a:ext cx="2052440" cy="2892253"/>
          </a:xfrm>
          <a:prstGeom prst="rect">
            <a:avLst/>
          </a:prstGeom>
        </p:spPr>
        <p:txBody>
          <a:bodyPr>
            <a:normAutofit/>
          </a:bodyPr>
          <a:lstStyle>
            <a:lvl1pPr marL="229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3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72500" indent="-229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5000" indent="-202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3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1500" indent="-17550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2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65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875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00000" indent="-171450" algn="l" defTabSz="342900" rtl="0" eaLnBrk="1" latinLnBrk="0" hangingPunct="1">
              <a:spcBef>
                <a:spcPct val="20000"/>
              </a:spcBef>
              <a:spcAft>
                <a:spcPts val="45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800" dirty="0"/>
          </a:p>
          <a:p>
            <a:r>
              <a:rPr lang="en-IN" sz="1800" dirty="0"/>
              <a:t>Iteration 3 is in progress</a:t>
            </a:r>
          </a:p>
          <a:p>
            <a:r>
              <a:rPr lang="en-IN" sz="1800" dirty="0"/>
              <a:t>Iteration 4 will start from Nov 3</a:t>
            </a:r>
            <a:r>
              <a:rPr lang="en-IN" sz="1800" baseline="30000" dirty="0"/>
              <a:t>rd</a:t>
            </a:r>
            <a:r>
              <a:rPr lang="en-IN" sz="18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52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984EFF8-A254-E190-4D2C-E78518007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F5DDDFEB-B774-7F29-6BE5-1CC3F19192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995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b="1" dirty="0">
                <a:sym typeface="Raleway Medium"/>
              </a:rPr>
              <a:t>Updated TEAM MEMBER RESPONSIBILITIES PROGRESS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3877306B-7527-6ED4-03C2-A72D2A9311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510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DBD4729-DBDF-40A6-9BA4-E4C97EF6D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125130-F4AB-465E-8AE2-E583FCAAB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BA65A2-0302-4468-ADA7-9EC3F9593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C266B9D-DC87-430A-8D3A-2E83639A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282F36-261B-49B3-8CA9-FB857C475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1566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7215C3-3B83-4BE7-9213-26E084BD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3255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A105D4-2907-419E-8223-4C266BA1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EE7F17-8E08-4C69-8E22-661908E6D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899" y="4405256"/>
            <a:ext cx="8472550" cy="38766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0005CA-C625-8BC9-6422-9C396CEA76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4781209"/>
              </p:ext>
            </p:extLst>
          </p:nvPr>
        </p:nvGraphicFramePr>
        <p:xfrm>
          <a:off x="334899" y="665395"/>
          <a:ext cx="8469109" cy="34690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93326">
                  <a:extLst>
                    <a:ext uri="{9D8B030D-6E8A-4147-A177-3AD203B41FA5}">
                      <a16:colId xmlns:a16="http://schemas.microsoft.com/office/drawing/2014/main" val="1191399660"/>
                    </a:ext>
                  </a:extLst>
                </a:gridCol>
                <a:gridCol w="2127159">
                  <a:extLst>
                    <a:ext uri="{9D8B030D-6E8A-4147-A177-3AD203B41FA5}">
                      <a16:colId xmlns:a16="http://schemas.microsoft.com/office/drawing/2014/main" val="2871832699"/>
                    </a:ext>
                  </a:extLst>
                </a:gridCol>
                <a:gridCol w="3960239">
                  <a:extLst>
                    <a:ext uri="{9D8B030D-6E8A-4147-A177-3AD203B41FA5}">
                      <a16:colId xmlns:a16="http://schemas.microsoft.com/office/drawing/2014/main" val="2550676228"/>
                    </a:ext>
                  </a:extLst>
                </a:gridCol>
                <a:gridCol w="1188385">
                  <a:extLst>
                    <a:ext uri="{9D8B030D-6E8A-4147-A177-3AD203B41FA5}">
                      <a16:colId xmlns:a16="http://schemas.microsoft.com/office/drawing/2014/main" val="899350803"/>
                    </a:ext>
                  </a:extLst>
                </a:gridCol>
              </a:tblGrid>
              <a:tr h="393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Member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Role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Key Contributions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Progress</a:t>
                      </a:r>
                    </a:p>
                  </a:txBody>
                  <a:tcPr marL="99853" marR="99853" marT="49926" marB="49926" anchor="ctr"/>
                </a:tc>
                <a:extLst>
                  <a:ext uri="{0D108BD9-81ED-4DB2-BD59-A6C34878D82A}">
                    <a16:rowId xmlns:a16="http://schemas.microsoft.com/office/drawing/2014/main" val="52499405"/>
                  </a:ext>
                </a:extLst>
              </a:tr>
              <a:tr h="631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Jasleen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Project Lead, Frontend, Testing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Repo setup, Requirements, Auth, Landing, Expense Module, Unit Tests, Deployment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🟢 100%</a:t>
                      </a:r>
                    </a:p>
                  </a:txBody>
                  <a:tcPr marL="99853" marR="99853" marT="49926" marB="49926" anchor="ctr"/>
                </a:tc>
                <a:extLst>
                  <a:ext uri="{0D108BD9-81ED-4DB2-BD59-A6C34878D82A}">
                    <a16:rowId xmlns:a16="http://schemas.microsoft.com/office/drawing/2014/main" val="3715835304"/>
                  </a:ext>
                </a:extLst>
              </a:tr>
              <a:tr h="631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Mashroor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Firebase &amp; CI/CD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Firebase setup, Auth integration, Logout/session handling, Deployment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🟢 100%</a:t>
                      </a:r>
                    </a:p>
                  </a:txBody>
                  <a:tcPr marL="99853" marR="99853" marT="49926" marB="49926" anchor="ctr"/>
                </a:tc>
                <a:extLst>
                  <a:ext uri="{0D108BD9-81ED-4DB2-BD59-A6C34878D82A}">
                    <a16:rowId xmlns:a16="http://schemas.microsoft.com/office/drawing/2014/main" val="467233282"/>
                  </a:ext>
                </a:extLst>
              </a:tr>
              <a:tr h="393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Sumaiya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UI/UX Design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Landing page design, Auth UI, Branding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🟢 100%</a:t>
                      </a:r>
                    </a:p>
                  </a:txBody>
                  <a:tcPr marL="99853" marR="99853" marT="49926" marB="49926" anchor="ctr"/>
                </a:tc>
                <a:extLst>
                  <a:ext uri="{0D108BD9-81ED-4DB2-BD59-A6C34878D82A}">
                    <a16:rowId xmlns:a16="http://schemas.microsoft.com/office/drawing/2014/main" val="2760753337"/>
                  </a:ext>
                </a:extLst>
              </a:tr>
              <a:tr h="393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Joel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Testing &amp; Firebase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Unit tests, Firebase validation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🟢 100%</a:t>
                      </a:r>
                    </a:p>
                  </a:txBody>
                  <a:tcPr marL="99853" marR="99853" marT="49926" marB="49926" anchor="ctr"/>
                </a:tc>
                <a:extLst>
                  <a:ext uri="{0D108BD9-81ED-4DB2-BD59-A6C34878D82A}">
                    <a16:rowId xmlns:a16="http://schemas.microsoft.com/office/drawing/2014/main" val="537996545"/>
                  </a:ext>
                </a:extLst>
              </a:tr>
              <a:tr h="631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Ronit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Backend &amp; Expense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Expense CRUD, Firebase integration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🟢 100%</a:t>
                      </a:r>
                    </a:p>
                  </a:txBody>
                  <a:tcPr marL="99853" marR="99853" marT="49926" marB="49926" anchor="ctr"/>
                </a:tc>
                <a:extLst>
                  <a:ext uri="{0D108BD9-81ED-4DB2-BD59-A6C34878D82A}">
                    <a16:rowId xmlns:a16="http://schemas.microsoft.com/office/drawing/2014/main" val="3133048025"/>
                  </a:ext>
                </a:extLst>
              </a:tr>
              <a:tr h="393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Kaustubh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Frontend (Expense)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Expense UI, CRUD operations</a:t>
                      </a:r>
                    </a:p>
                  </a:txBody>
                  <a:tcPr marL="99853" marR="99853" marT="49926" marB="499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🟢 100%</a:t>
                      </a:r>
                    </a:p>
                  </a:txBody>
                  <a:tcPr marL="99853" marR="99853" marT="49926" marB="49926" anchor="ctr"/>
                </a:tc>
                <a:extLst>
                  <a:ext uri="{0D108BD9-81ED-4DB2-BD59-A6C34878D82A}">
                    <a16:rowId xmlns:a16="http://schemas.microsoft.com/office/drawing/2014/main" val="3622182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290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2B1F-2D7E-D259-285D-233C41A8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of Progress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A134D-74A8-6645-5A93-9E5527A5C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Sprints 1–2:</a:t>
            </a:r>
            <a:r>
              <a:rPr lang="en-IN" dirty="0"/>
              <a:t> Fully completed (setup, authentication, CI/CD) - ✅ Completed</a:t>
            </a:r>
          </a:p>
          <a:p>
            <a:r>
              <a:rPr lang="en-IN" b="1" dirty="0"/>
              <a:t>Sprint 3:</a:t>
            </a:r>
            <a:r>
              <a:rPr lang="en-IN" dirty="0"/>
              <a:t> Expense module functional &amp; tested; Category management  - 🟡 Partially Completed </a:t>
            </a:r>
          </a:p>
          <a:p>
            <a:endParaRPr lang="en-IN" dirty="0"/>
          </a:p>
          <a:p>
            <a:r>
              <a:rPr lang="en-IN" b="1" dirty="0"/>
              <a:t>Sprint 4:</a:t>
            </a:r>
            <a:r>
              <a:rPr lang="en-IN" dirty="0"/>
              <a:t> Dashboard &amp; reporting started; visualization and export upcoming – ⏳ Planned</a:t>
            </a:r>
          </a:p>
          <a:p>
            <a:r>
              <a:rPr lang="en-IN" b="1" dirty="0"/>
              <a:t>Sprint 5: </a:t>
            </a:r>
            <a:r>
              <a:rPr lang="en-IN" dirty="0"/>
              <a:t>System testing and Fix the bugs, Final documentation - ⏳ Planned</a:t>
            </a:r>
          </a:p>
          <a:p>
            <a:endParaRPr lang="en-IN" dirty="0"/>
          </a:p>
          <a:p>
            <a:r>
              <a:rPr lang="en-IN" b="1" dirty="0"/>
              <a:t>Next Focus:</a:t>
            </a:r>
            <a:r>
              <a:rPr lang="en-IN" dirty="0"/>
              <a:t> Analytics dashboard, report export, final integration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8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56D9A60-CED9-F98C-B18A-9A34BBD26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8B4E95BF-20BF-92C2-6B21-8C26CD5671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995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sym typeface="Raleway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 of the PROJECT</a:t>
            </a:r>
            <a:br>
              <a:rPr lang="en-GB" b="1" dirty="0">
                <a:solidFill>
                  <a:schemeClr val="bg1"/>
                </a:solidFill>
                <a:sym typeface="Raleway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b="1" dirty="0">
                <a:solidFill>
                  <a:schemeClr val="bg1"/>
                </a:solidFill>
                <a:sym typeface="Raleway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progress 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F536E099-588E-A245-EF04-183818F8627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581309" cy="33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phic 2" descr="Cursor with solid fill">
            <a:extLst>
              <a:ext uri="{FF2B5EF4-FFF2-40B4-BE49-F238E27FC236}">
                <a16:creationId xmlns:a16="http://schemas.microsoft.com/office/drawing/2014/main" id="{24F70859-DF47-818C-2E34-8E48C9E079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92229" y="2214007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E742F4-6916-CBFC-D2E0-69E2B98FE8B6}"/>
              </a:ext>
            </a:extLst>
          </p:cNvPr>
          <p:cNvSpPr txBox="1"/>
          <p:nvPr/>
        </p:nvSpPr>
        <p:spPr>
          <a:xfrm>
            <a:off x="1828800" y="3454079"/>
            <a:ext cx="567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https://budget-buddy-</a:t>
            </a:r>
            <a:r>
              <a:rPr lang="en-US" dirty="0" err="1">
                <a:solidFill>
                  <a:schemeClr val="bg1"/>
                </a:solidFill>
              </a:rPr>
              <a:t>mun.vercel.app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19625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F5DEB06A-A095-004F-9EE5-28168530C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2314323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B5D795CF-5F70-4821-BB11-0B2B8FCCD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8631"/>
            <a:ext cx="9143999" cy="4664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3B1AC31-0B6C-4781-BA06-16BE17F8A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5138" y="542924"/>
            <a:ext cx="5623962" cy="4249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FF3D7578-3CEC-D4AF-E842-8D1DD86A78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86827" y="1214896"/>
            <a:ext cx="4740321" cy="19359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 defTabSz="457200">
              <a:lnSpc>
                <a:spcPct val="9000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sym typeface="Raleway Medium"/>
              </a:rPr>
              <a:t>Thank you </a:t>
            </a:r>
            <a:br>
              <a:rPr lang="en-US" sz="3300" b="1" dirty="0">
                <a:solidFill>
                  <a:srgbClr val="FFFFFF"/>
                </a:solidFill>
                <a:sym typeface="Raleway Medium"/>
              </a:rPr>
            </a:br>
            <a:br>
              <a:rPr lang="en-US" sz="3300" b="1" dirty="0">
                <a:solidFill>
                  <a:srgbClr val="FFFFFF"/>
                </a:solidFill>
                <a:sym typeface="Raleway Medium"/>
              </a:rPr>
            </a:br>
            <a:r>
              <a:rPr lang="en-US" sz="3300" b="1" dirty="0">
                <a:solidFill>
                  <a:srgbClr val="FFFFFF"/>
                </a:solidFill>
                <a:sym typeface="Raleway Medium"/>
              </a:rPr>
              <a:t>any question?</a:t>
            </a:r>
            <a:endParaRPr lang="en-US" sz="3300" b="1" dirty="0">
              <a:solidFill>
                <a:srgbClr val="FFFFFF"/>
              </a:solidFill>
            </a:endParaRPr>
          </a:p>
        </p:txBody>
      </p:sp>
      <p:pic>
        <p:nvPicPr>
          <p:cNvPr id="2" name="Graphic 1" descr="Handshake">
            <a:extLst>
              <a:ext uri="{FF2B5EF4-FFF2-40B4-BE49-F238E27FC236}">
                <a16:creationId xmlns:a16="http://schemas.microsoft.com/office/drawing/2014/main" id="{4C75FBB5-B114-2CE9-BB27-4973333CF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724" y="1507962"/>
            <a:ext cx="2294126" cy="2294126"/>
          </a:xfrm>
          <a:prstGeom prst="rect">
            <a:avLst/>
          </a:prstGeom>
        </p:spPr>
      </p:pic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36AF522D-398A-F9BB-AD72-5D50DC4EEB3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581309" cy="335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3601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326</TotalTime>
  <Words>865</Words>
  <Application>Microsoft Macintosh PowerPoint</Application>
  <PresentationFormat>On-screen Show (16:9)</PresentationFormat>
  <Paragraphs>157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Helvetica</vt:lpstr>
      <vt:lpstr>Times New Roman</vt:lpstr>
      <vt:lpstr>Raleway Medium</vt:lpstr>
      <vt:lpstr>Gill Sans MT</vt:lpstr>
      <vt:lpstr>Wingdings 2</vt:lpstr>
      <vt:lpstr>Arial</vt:lpstr>
      <vt:lpstr>Dividend</vt:lpstr>
      <vt:lpstr>Project Progress Group 6   Budget Buddy  </vt:lpstr>
      <vt:lpstr>INDEX</vt:lpstr>
      <vt:lpstr>SUMMARY OF THE PROJECT</vt:lpstr>
      <vt:lpstr>PowerPoint Presentation</vt:lpstr>
      <vt:lpstr>PowerPoint Presentation</vt:lpstr>
      <vt:lpstr>Progress to Date </vt:lpstr>
      <vt:lpstr>Progress to Date (Iteration 1–2)</vt:lpstr>
      <vt:lpstr>Progress to Date (Iteration 3–4)</vt:lpstr>
      <vt:lpstr>GLIMPSES OF OUR PROJECT SO FAR </vt:lpstr>
      <vt:lpstr>Class and Use case diagram (Done in the Requirements phase)</vt:lpstr>
      <vt:lpstr>LANDING PAGE</vt:lpstr>
      <vt:lpstr>lOGIN AND SIGNUP PAGE</vt:lpstr>
      <vt:lpstr>Expenses page</vt:lpstr>
      <vt:lpstr>Adding an expense</vt:lpstr>
      <vt:lpstr>firebase</vt:lpstr>
      <vt:lpstr>Challenges faced in the initial iterations  AND  proposed SOLUTIONs to those </vt:lpstr>
      <vt:lpstr>PowerPoint Presentation</vt:lpstr>
      <vt:lpstr>Next steps </vt:lpstr>
      <vt:lpstr>Next steps</vt:lpstr>
      <vt:lpstr>Adjustments to Plan</vt:lpstr>
      <vt:lpstr>Updated Timeline  The issues we have completed and in progress </vt:lpstr>
      <vt:lpstr>PowerPoint Presentation</vt:lpstr>
      <vt:lpstr>PowerPoint Presentation</vt:lpstr>
      <vt:lpstr>Updated TEAM MEMBER RESPONSIBILITIES PROGRESS</vt:lpstr>
      <vt:lpstr>PowerPoint Presentation</vt:lpstr>
      <vt:lpstr>Summary of Progress</vt:lpstr>
      <vt:lpstr>LIVE demo of the PROJECT progress </vt:lpstr>
      <vt:lpstr>Thank you   any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Jasleen Minhas</cp:lastModifiedBy>
  <cp:revision>35</cp:revision>
  <dcterms:modified xsi:type="dcterms:W3CDTF">2025-10-23T16:48:51Z</dcterms:modified>
</cp:coreProperties>
</file>