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0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5143500" type="screen16x9"/>
  <p:notesSz cx="6858000" cy="9144000"/>
  <p:embeddedFontLst>
    <p:embeddedFont>
      <p:font typeface="Lato" panose="020F0502020204030203" pitchFamily="34" charset="0"/>
      <p:regular r:id="rId18"/>
      <p:bold r:id="rId19"/>
      <p:italic r:id="rId20"/>
      <p:boldItalic r:id="rId21"/>
    </p:embeddedFont>
    <p:embeddedFont>
      <p:font typeface="Raleway" pitchFamily="2" charset="77"/>
      <p:regular r:id="rId22"/>
      <p:bold r:id="rId23"/>
      <p:italic r:id="rId24"/>
      <p:boldItalic r:id="rId25"/>
    </p:embeddedFont>
    <p:embeddedFont>
      <p:font typeface="Raleway ExtraBold" pitchFamily="2" charset="77"/>
      <p:bold r:id="rId26"/>
      <p:italic r:id="rId27"/>
      <p:boldItalic r:id="rId28"/>
    </p:embeddedFont>
    <p:embeddedFont>
      <p:font typeface="Raleway Medium" panose="020F0502020204030204" pitchFamily="34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36D93E0-FE57-40B0-AAFF-2FD2DFCAAC05}">
  <a:tblStyle styleId="{D36D93E0-FE57-40B0-AAFF-2FD2DFCAAC0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7"/>
    <p:restoredTop sz="94686"/>
  </p:normalViewPr>
  <p:slideViewPr>
    <p:cSldViewPr snapToGrid="0">
      <p:cViewPr varScale="1">
        <p:scale>
          <a:sx n="135" d="100"/>
          <a:sy n="135" d="100"/>
        </p:scale>
        <p:origin x="752" y="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81eea1e02e_0_6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81eea1e02e_0_6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81ff7e6e5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81ff7e6e5f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81eea1e02e_0_7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81eea1e02e_0_7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81eea1e02e_0_7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81eea1e02e_0_7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81eea1e02e_0_7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81eea1e02e_0_7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81ff7e6e5f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81ff7e6e5f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81ff7e6e5f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81ff7e6e5f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81ff7e6e5f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81ff7e6e5f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81ff7e6e5f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81ff7e6e5f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81ff7e6e5f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81ff7e6e5f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81ff7e6e5f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81ff7e6e5f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81ff7e6e5f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81ff7e6e5f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81ff7e6e5f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81ff7e6e5f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" name="Google Shape;77;p11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6" Type="http://schemas.openxmlformats.org/officeDocument/2006/relationships/slide" Target="slide12.xml"/><Relationship Id="rId5" Type="http://schemas.openxmlformats.org/officeDocument/2006/relationships/slide" Target="slide10.xml"/><Relationship Id="rId4" Type="http://schemas.openxmlformats.org/officeDocument/2006/relationships/slide" Target="slide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svg"/><Relationship Id="rId3" Type="http://schemas.openxmlformats.org/officeDocument/2006/relationships/image" Target="../media/image1.png"/><Relationship Id="rId7" Type="http://schemas.openxmlformats.org/officeDocument/2006/relationships/image" Target="../media/image11.sv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5" Type="http://schemas.openxmlformats.org/officeDocument/2006/relationships/image" Target="../media/image9.sv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>
            <a:spLocks noGrp="1"/>
          </p:cNvSpPr>
          <p:nvPr>
            <p:ph type="ctrTitle"/>
          </p:nvPr>
        </p:nvSpPr>
        <p:spPr>
          <a:xfrm>
            <a:off x="395300" y="630224"/>
            <a:ext cx="8194800" cy="26456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Project Proposal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500" dirty="0"/>
              <a:t>Group 6 </a:t>
            </a:r>
            <a:endParaRPr sz="35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8695"/>
              <a:buFont typeface="Arial"/>
              <a:buNone/>
            </a:pPr>
            <a:r>
              <a:rPr lang="en-GB" sz="3833" dirty="0"/>
              <a:t>Budget Buddy </a:t>
            </a:r>
            <a:br>
              <a:rPr lang="en-GB" sz="3833" dirty="0"/>
            </a:br>
            <a:r>
              <a:rPr lang="en-GB" sz="2800" i="1" dirty="0"/>
              <a:t>(Finance Tracking WebApp)</a:t>
            </a:r>
            <a:endParaRPr sz="2800" i="1" dirty="0"/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1"/>
          </p:nvPr>
        </p:nvSpPr>
        <p:spPr>
          <a:xfrm>
            <a:off x="395300" y="3137025"/>
            <a:ext cx="8326500" cy="169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chemeClr val="tx2">
                    <a:lumMod val="10000"/>
                  </a:schemeClr>
                </a:solidFill>
              </a:rPr>
              <a:t>Group Members:</a:t>
            </a:r>
            <a:endParaRPr sz="1400" b="1" dirty="0">
              <a:solidFill>
                <a:schemeClr val="tx2">
                  <a:lumMod val="10000"/>
                </a:schemeClr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chemeClr val="tx2">
                    <a:lumMod val="10000"/>
                  </a:schemeClr>
                </a:solidFill>
              </a:rPr>
              <a:t>Jasleen Minhas [202481225] – Group Lead</a:t>
            </a:r>
            <a:endParaRPr sz="1400" dirty="0">
              <a:solidFill>
                <a:schemeClr val="tx2">
                  <a:lumMod val="10000"/>
                </a:schemeClr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chemeClr val="tx2">
                    <a:lumMod val="10000"/>
                  </a:schemeClr>
                </a:solidFill>
              </a:rPr>
              <a:t>Sumaiya Khan [202480995]</a:t>
            </a:r>
            <a:endParaRPr sz="1400" dirty="0">
              <a:solidFill>
                <a:schemeClr val="tx2">
                  <a:lumMod val="10000"/>
                </a:schemeClr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chemeClr val="tx2">
                    <a:lumMod val="10000"/>
                  </a:schemeClr>
                </a:solidFill>
              </a:rPr>
              <a:t>Masroor Rahman [202482239]</a:t>
            </a:r>
            <a:endParaRPr sz="1400" dirty="0">
              <a:solidFill>
                <a:schemeClr val="tx2">
                  <a:lumMod val="10000"/>
                </a:schemeClr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chemeClr val="tx2">
                    <a:lumMod val="10000"/>
                  </a:schemeClr>
                </a:solidFill>
              </a:rPr>
              <a:t>Joel George Sam [202483190]</a:t>
            </a:r>
            <a:endParaRPr sz="1400" dirty="0">
              <a:solidFill>
                <a:schemeClr val="tx2">
                  <a:lumMod val="10000"/>
                </a:schemeClr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chemeClr val="tx2">
                    <a:lumMod val="10000"/>
                  </a:schemeClr>
                </a:solidFill>
              </a:rPr>
              <a:t>Kaustubh Patil [202580621]</a:t>
            </a:r>
            <a:endParaRPr sz="1400" dirty="0">
              <a:solidFill>
                <a:schemeClr val="tx2">
                  <a:lumMod val="10000"/>
                </a:schemeClr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chemeClr val="tx2">
                    <a:lumMod val="10000"/>
                  </a:schemeClr>
                </a:solidFill>
              </a:rPr>
              <a:t>Ronit Gajjar [202488048]</a:t>
            </a:r>
            <a:endParaRPr sz="1400" dirty="0">
              <a:solidFill>
                <a:schemeClr val="tx2">
                  <a:lumMod val="10000"/>
                </a:schemeClr>
              </a:solidFill>
            </a:endParaRPr>
          </a:p>
        </p:txBody>
      </p:sp>
      <p:pic>
        <p:nvPicPr>
          <p:cNvPr id="88" name="Google Shape;8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600" y="97125"/>
            <a:ext cx="581309" cy="3356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30081BB-A9E9-C6D9-E70E-2A92588C003B}"/>
              </a:ext>
            </a:extLst>
          </p:cNvPr>
          <p:cNvSpPr txBox="1"/>
          <p:nvPr/>
        </p:nvSpPr>
        <p:spPr>
          <a:xfrm>
            <a:off x="6937654" y="4440170"/>
            <a:ext cx="22063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rgbClr val="BE0004"/>
                </a:solidFill>
                <a:effectLst/>
                <a:latin typeface="Helvetica" pitchFamily="2" charset="0"/>
              </a:rPr>
              <a:t>COMP 6905</a:t>
            </a:r>
          </a:p>
          <a:p>
            <a:pPr>
              <a:buNone/>
            </a:pPr>
            <a:r>
              <a:rPr lang="en-IN" b="1" dirty="0">
                <a:solidFill>
                  <a:srgbClr val="BE0004"/>
                </a:solidFill>
                <a:effectLst/>
                <a:latin typeface="Helvetica" pitchFamily="2" charset="0"/>
              </a:rPr>
              <a:t>Software Engineering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100" dirty="0"/>
              <a:t>Outline</a:t>
            </a:r>
            <a:endParaRPr sz="3100" dirty="0"/>
          </a:p>
        </p:txBody>
      </p:sp>
      <p:sp>
        <p:nvSpPr>
          <p:cNvPr id="94" name="Google Shape;94;p14"/>
          <p:cNvSpPr txBox="1">
            <a:spLocks noGrp="1"/>
          </p:cNvSpPr>
          <p:nvPr>
            <p:ph type="body" idx="2"/>
          </p:nvPr>
        </p:nvSpPr>
        <p:spPr>
          <a:xfrm>
            <a:off x="4935985" y="1547933"/>
            <a:ext cx="3915052" cy="25624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indent="-285750"/>
            <a:r>
              <a:rPr lang="en-GB" sz="1600" b="1" u="sng" dirty="0">
                <a:solidFill>
                  <a:schemeClr val="hlink"/>
                </a:solidFill>
                <a:latin typeface="Raleway Medium"/>
                <a:ea typeface="Raleway Medium"/>
                <a:cs typeface="Raleway Medium"/>
                <a:sym typeface="Raleway Medium"/>
                <a:hlinkClick r:id="rId3" action="ppaction://hlinksldjump"/>
              </a:rPr>
              <a:t>Introduction &amp; Problem Statement</a:t>
            </a:r>
            <a:endParaRPr sz="1600" b="1" dirty="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marL="285750" indent="-285750">
              <a:spcBef>
                <a:spcPts val="1200"/>
              </a:spcBef>
            </a:pPr>
            <a:r>
              <a:rPr lang="en-GB" sz="1600" b="1" u="sng" dirty="0">
                <a:solidFill>
                  <a:schemeClr val="hlink"/>
                </a:solidFill>
                <a:latin typeface="Raleway Medium"/>
                <a:ea typeface="Raleway Medium"/>
                <a:cs typeface="Raleway Medium"/>
                <a:sym typeface="Raleway Medium"/>
                <a:hlinkClick r:id="rId4" action="ppaction://hlinksldjump"/>
              </a:rPr>
              <a:t>Proposed Solution &amp; Scope</a:t>
            </a:r>
            <a:endParaRPr sz="1600" b="1" dirty="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marL="285750" indent="-285750">
              <a:spcBef>
                <a:spcPts val="1200"/>
              </a:spcBef>
            </a:pPr>
            <a:r>
              <a:rPr lang="en-GB" sz="1600" b="1" u="sng" dirty="0">
                <a:solidFill>
                  <a:schemeClr val="hlink"/>
                </a:solidFill>
                <a:latin typeface="Raleway Medium"/>
                <a:ea typeface="Raleway Medium"/>
                <a:cs typeface="Raleway Medium"/>
                <a:sym typeface="Raleway Medium"/>
                <a:hlinkClick r:id="rId5" action="ppaction://hlinksldjump"/>
              </a:rPr>
              <a:t>Tech</a:t>
            </a:r>
            <a:r>
              <a:rPr lang="en-US" sz="1600" b="1" u="sng" dirty="0">
                <a:solidFill>
                  <a:schemeClr val="hlink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Stack</a:t>
            </a:r>
            <a:endParaRPr sz="1600" b="1" dirty="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marL="285750" indent="-285750">
              <a:spcBef>
                <a:spcPts val="1200"/>
              </a:spcBef>
            </a:pPr>
            <a:r>
              <a:rPr lang="en-GB" sz="1600" b="1" u="sng" dirty="0">
                <a:solidFill>
                  <a:schemeClr val="hlink"/>
                </a:solidFill>
                <a:latin typeface="Raleway Medium"/>
                <a:ea typeface="Raleway Medium"/>
                <a:cs typeface="Raleway Medium"/>
                <a:sym typeface="Raleway Medium"/>
                <a:hlinkClick r:id="rId6" action="ppaction://hlinksldjump"/>
              </a:rPr>
              <a:t>Project Plan </a:t>
            </a:r>
          </a:p>
          <a:p>
            <a:pPr marL="285750" indent="-285750">
              <a:spcBef>
                <a:spcPts val="1200"/>
              </a:spcBef>
            </a:pPr>
            <a:r>
              <a:rPr lang="en-GB" sz="1600" b="1" u="sng" dirty="0">
                <a:solidFill>
                  <a:schemeClr val="hlink"/>
                </a:solidFill>
                <a:latin typeface="Raleway Medium"/>
                <a:ea typeface="Raleway Medium"/>
                <a:cs typeface="Raleway Medium"/>
                <a:sym typeface="Raleway Medium"/>
                <a:hlinkClick r:id="rId6" action="ppaction://hlinksldjump"/>
              </a:rPr>
              <a:t>Deliverables</a:t>
            </a:r>
            <a:endParaRPr sz="1600" b="1" dirty="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95" name="Google Shape;95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78600" y="97125"/>
            <a:ext cx="581309" cy="33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>
                <a:solidFill>
                  <a:srgbClr val="FFFF00"/>
                </a:solidFill>
              </a:rPr>
              <a:t>Introduction &amp; Problem Statement</a:t>
            </a:r>
            <a:endParaRPr sz="4300">
              <a:solidFill>
                <a:srgbClr val="FFFF00"/>
              </a:solidFill>
            </a:endParaRPr>
          </a:p>
        </p:txBody>
      </p:sp>
      <p:pic>
        <p:nvPicPr>
          <p:cNvPr id="101" name="Google Shape;10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600" y="97125"/>
            <a:ext cx="581309" cy="33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>
            <a:spLocks noGrp="1"/>
          </p:cNvSpPr>
          <p:nvPr>
            <p:ph type="body" idx="1"/>
          </p:nvPr>
        </p:nvSpPr>
        <p:spPr>
          <a:xfrm>
            <a:off x="759909" y="1251751"/>
            <a:ext cx="7688700" cy="33014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32500" lnSpcReduction="20000"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7468" b="1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Introduction</a:t>
            </a:r>
            <a:endParaRPr sz="7468" b="1" dirty="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28108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Raleway Medium"/>
              <a:buChar char="●"/>
            </a:pPr>
            <a:r>
              <a:rPr lang="en-GB" sz="6268" dirty="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Managing finances is essential yet challenging.</a:t>
            </a:r>
            <a:br>
              <a:rPr lang="en-GB" sz="6268" dirty="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</a:br>
            <a:endParaRPr sz="6268" dirty="0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marL="457200" lvl="0" indent="-328108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Raleway Medium"/>
              <a:buChar char="●"/>
            </a:pPr>
            <a:r>
              <a:rPr lang="en-GB" sz="6268" dirty="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Existing apps are often:</a:t>
            </a:r>
            <a:br>
              <a:rPr lang="en-GB" sz="6268" dirty="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</a:br>
            <a:endParaRPr sz="6268" dirty="0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marL="914400" lvl="1" indent="-328107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Raleway Medium"/>
              <a:buChar char="○"/>
            </a:pPr>
            <a:r>
              <a:rPr lang="en-GB" sz="6268" dirty="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Too complex</a:t>
            </a:r>
            <a:br>
              <a:rPr lang="en-GB" sz="6268" dirty="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</a:br>
            <a:endParaRPr sz="6268" dirty="0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lvl="1" indent="-328107">
              <a:buClr>
                <a:srgbClr val="000000"/>
              </a:buClr>
              <a:buSzPct val="100000"/>
              <a:buFont typeface="Arial"/>
              <a:buChar char="○"/>
            </a:pPr>
            <a:r>
              <a:rPr lang="en-GB" sz="6268" dirty="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Paid or limited after trial </a:t>
            </a:r>
            <a:r>
              <a:rPr lang="en-GB" sz="6268" b="1" dirty="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(</a:t>
            </a:r>
            <a:r>
              <a:rPr lang="en-GB" sz="6268" b="1" dirty="0" err="1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PocketGuard</a:t>
            </a:r>
            <a:r>
              <a:rPr lang="en-GB" sz="6268" dirty="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, </a:t>
            </a:r>
            <a:r>
              <a:rPr lang="en-GB" sz="6268" b="1" dirty="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MINT)</a:t>
            </a:r>
            <a:br>
              <a:rPr lang="en-GB" sz="626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626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107" name="Google Shape;10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600" y="97125"/>
            <a:ext cx="581309" cy="335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raphic 2" descr="Coins outline">
            <a:extLst>
              <a:ext uri="{FF2B5EF4-FFF2-40B4-BE49-F238E27FC236}">
                <a16:creationId xmlns:a16="http://schemas.microsoft.com/office/drawing/2014/main" id="{0358AC9C-B326-D54E-7454-09177A56B1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34218" y="2445257"/>
            <a:ext cx="914400" cy="914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>
            <a:spLocks noGrp="1"/>
          </p:cNvSpPr>
          <p:nvPr>
            <p:ph type="body" idx="1"/>
          </p:nvPr>
        </p:nvSpPr>
        <p:spPr>
          <a:xfrm>
            <a:off x="727650" y="1275425"/>
            <a:ext cx="7688700" cy="316341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32500" lnSpcReduction="20000"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7468" b="1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Problem Statement</a:t>
            </a:r>
            <a:endParaRPr sz="7468" b="1" dirty="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28108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-GB" sz="6268" dirty="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Lack of a free, simple, and effective tool for:</a:t>
            </a:r>
            <a:br>
              <a:rPr lang="en-GB" sz="6268" dirty="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</a:br>
            <a:endParaRPr sz="6268" dirty="0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marL="914400" lvl="1" indent="-328107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Raleway Medium"/>
              <a:buChar char="○"/>
            </a:pPr>
            <a:r>
              <a:rPr lang="en-GB" sz="6268" dirty="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Expense tracking</a:t>
            </a:r>
            <a:br>
              <a:rPr lang="en-GB" sz="6268" dirty="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</a:br>
            <a:endParaRPr sz="6268" dirty="0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marL="914400" lvl="1" indent="-328107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Raleway Medium"/>
              <a:buChar char="○"/>
            </a:pPr>
            <a:r>
              <a:rPr lang="en-GB" sz="6268" dirty="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Categorization</a:t>
            </a:r>
            <a:br>
              <a:rPr lang="en-GB" sz="6268" dirty="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</a:br>
            <a:endParaRPr sz="6268" dirty="0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marL="914400" lvl="1" indent="-328107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Raleway Medium"/>
              <a:buChar char="○"/>
            </a:pPr>
            <a:r>
              <a:rPr lang="en-GB" sz="6268" dirty="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Visualization &amp; reporting</a:t>
            </a:r>
            <a:endParaRPr sz="6268" dirty="0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113" name="Google Shape;11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600" y="97125"/>
            <a:ext cx="581309" cy="335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raphic 4" descr="Presentation with bar chart with solid fill">
            <a:extLst>
              <a:ext uri="{FF2B5EF4-FFF2-40B4-BE49-F238E27FC236}">
                <a16:creationId xmlns:a16="http://schemas.microsoft.com/office/drawing/2014/main" id="{96A7FD18-B504-EC1F-5EBE-3920BF403B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96613" y="2633894"/>
            <a:ext cx="1469255" cy="14692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00"/>
                </a:solidFill>
              </a:rPr>
              <a:t>Proposed Solution &amp; Scope</a:t>
            </a:r>
            <a:endParaRPr>
              <a:solidFill>
                <a:srgbClr val="FFFF00"/>
              </a:solidFill>
            </a:endParaRPr>
          </a:p>
        </p:txBody>
      </p:sp>
      <p:pic>
        <p:nvPicPr>
          <p:cNvPr id="119" name="Google Shape;11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600" y="97125"/>
            <a:ext cx="581309" cy="33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 txBox="1">
            <a:spLocks noGrp="1"/>
          </p:cNvSpPr>
          <p:nvPr>
            <p:ph type="body" idx="1"/>
          </p:nvPr>
        </p:nvSpPr>
        <p:spPr>
          <a:xfrm>
            <a:off x="759909" y="1432174"/>
            <a:ext cx="7849979" cy="31326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Proposed Solution: </a:t>
            </a:r>
            <a:r>
              <a:rPr lang="en-GB" sz="2000" b="1" dirty="0">
                <a:solidFill>
                  <a:srgbClr val="C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Budget Buddy</a:t>
            </a:r>
            <a:endParaRPr sz="2000" b="1" dirty="0">
              <a:solidFill>
                <a:srgbClr val="C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lvl="0" indent="-336550">
              <a:spcBef>
                <a:spcPts val="1200"/>
              </a:spcBef>
              <a:buClr>
                <a:srgbClr val="000000"/>
              </a:buClr>
              <a:buSzPts val="1700"/>
              <a:buFont typeface="Raleway Medium"/>
              <a:buChar char="●"/>
            </a:pPr>
            <a:r>
              <a:rPr lang="en-GB" sz="2000" dirty="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 </a:t>
            </a:r>
            <a:r>
              <a:rPr lang="en-GB" sz="2000" u="sng" dirty="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web-based,</a:t>
            </a:r>
            <a:r>
              <a:rPr lang="en-GB" sz="2000" dirty="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</a:t>
            </a:r>
            <a:r>
              <a:rPr lang="en-GB" sz="2000" u="sng" dirty="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user-friendly</a:t>
            </a:r>
            <a:r>
              <a:rPr lang="en-GB" sz="2000" dirty="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, </a:t>
            </a:r>
            <a:r>
              <a:rPr lang="en-GB" sz="2000" u="sng" dirty="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free finance tracker.</a:t>
            </a:r>
            <a:br>
              <a:rPr lang="en-GB" sz="2000" u="sng" dirty="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</a:br>
            <a:endParaRPr sz="2000" u="sng" dirty="0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aleway Medium"/>
              <a:buChar char="●"/>
            </a:pPr>
            <a:r>
              <a:rPr lang="en-GB" sz="2000" dirty="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Focus on simplicity &amp; accessibility.</a:t>
            </a:r>
            <a:endParaRPr sz="2000" dirty="0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pic>
        <p:nvPicPr>
          <p:cNvPr id="125" name="Google Shape;12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600" y="97125"/>
            <a:ext cx="581309" cy="335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raphic 2" descr="Flying Money with solid fill">
            <a:extLst>
              <a:ext uri="{FF2B5EF4-FFF2-40B4-BE49-F238E27FC236}">
                <a16:creationId xmlns:a16="http://schemas.microsoft.com/office/drawing/2014/main" id="{F3B67F5B-DD46-3E67-9B92-AD5514B4DE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07332" y="3166553"/>
            <a:ext cx="1398233" cy="13982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>
            <a:spLocks noGrp="1"/>
          </p:cNvSpPr>
          <p:nvPr>
            <p:ph type="body" idx="1"/>
          </p:nvPr>
        </p:nvSpPr>
        <p:spPr>
          <a:xfrm>
            <a:off x="727650" y="1171956"/>
            <a:ext cx="7688700" cy="367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980" b="1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Scope (Fall 2025)</a:t>
            </a:r>
            <a:endParaRPr sz="2980" b="1" dirty="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27818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Raleway Medium"/>
              <a:buChar char="●"/>
            </a:pPr>
            <a:r>
              <a:rPr lang="en-GB" sz="2500" dirty="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Authentication </a:t>
            </a:r>
            <a:br>
              <a:rPr lang="en-GB" sz="2500" dirty="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</a:br>
            <a:endParaRPr sz="2500" dirty="0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lvl="0" indent="-327818">
              <a:buClr>
                <a:srgbClr val="000000"/>
              </a:buClr>
              <a:buSzPct val="100000"/>
              <a:buFont typeface="Raleway Medium"/>
              <a:buChar char="●"/>
            </a:pPr>
            <a:r>
              <a:rPr lang="en-GB" sz="2500" dirty="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Manual Expense Management</a:t>
            </a:r>
            <a:br>
              <a:rPr lang="en-GB" sz="2500" dirty="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</a:br>
            <a:r>
              <a:rPr lang="en-GB" sz="2500" dirty="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</a:t>
            </a:r>
            <a:endParaRPr sz="2500" dirty="0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marL="457200" lvl="0" indent="-327818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Raleway Medium"/>
              <a:buChar char="●"/>
            </a:pPr>
            <a:r>
              <a:rPr lang="en-GB" sz="2500" dirty="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Categories Management</a:t>
            </a:r>
            <a:br>
              <a:rPr lang="en-GB" sz="2500" dirty="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</a:br>
            <a:endParaRPr sz="2500" dirty="0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lvl="0" indent="-327818">
              <a:buClr>
                <a:srgbClr val="000000"/>
              </a:buClr>
              <a:buSzPct val="100000"/>
              <a:buFont typeface="Raleway Medium"/>
              <a:buChar char="●"/>
            </a:pPr>
            <a:r>
              <a:rPr lang="en-GB" sz="2500" dirty="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Visualisation dashboard (using charts)</a:t>
            </a:r>
            <a:br>
              <a:rPr lang="en-GB" sz="2500" dirty="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</a:br>
            <a:endParaRPr sz="2500" dirty="0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marL="457200" lvl="0" indent="-327818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Raleway Medium"/>
              <a:buChar char="●"/>
            </a:pPr>
            <a:r>
              <a:rPr lang="en-GB" sz="2500" dirty="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Report Generation</a:t>
            </a:r>
            <a:br>
              <a:rPr lang="en-GB" sz="2500" dirty="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</a:br>
            <a:endParaRPr sz="2500" dirty="0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marL="457200" lvl="0" indent="-327818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Raleway Medium"/>
              <a:buChar char="●"/>
            </a:pPr>
            <a:r>
              <a:rPr lang="en-GB" sz="2500" dirty="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Responsive Design</a:t>
            </a:r>
            <a:endParaRPr sz="2500" dirty="0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550" dirty="0"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pic>
        <p:nvPicPr>
          <p:cNvPr id="131" name="Google Shape;13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600" y="97125"/>
            <a:ext cx="581309" cy="335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raphic 2" descr="Document with solid fill">
            <a:extLst>
              <a:ext uri="{FF2B5EF4-FFF2-40B4-BE49-F238E27FC236}">
                <a16:creationId xmlns:a16="http://schemas.microsoft.com/office/drawing/2014/main" id="{21BAB4A8-6098-3C63-0928-4116AF0CF5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84307" y="3704181"/>
            <a:ext cx="914400" cy="914400"/>
          </a:xfrm>
          <a:prstGeom prst="rect">
            <a:avLst/>
          </a:prstGeom>
        </p:spPr>
      </p:pic>
      <p:pic>
        <p:nvPicPr>
          <p:cNvPr id="5" name="Graphic 4" descr="Hierarchy with solid fill">
            <a:extLst>
              <a:ext uri="{FF2B5EF4-FFF2-40B4-BE49-F238E27FC236}">
                <a16:creationId xmlns:a16="http://schemas.microsoft.com/office/drawing/2014/main" id="{038D4331-F5E9-F65E-20B1-DF1D9CE081B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13107" y="1171956"/>
            <a:ext cx="914400" cy="914400"/>
          </a:xfrm>
          <a:prstGeom prst="rect">
            <a:avLst/>
          </a:prstGeom>
        </p:spPr>
      </p:pic>
      <p:pic>
        <p:nvPicPr>
          <p:cNvPr id="7" name="Graphic 6" descr="Pie chart with solid fill">
            <a:extLst>
              <a:ext uri="{FF2B5EF4-FFF2-40B4-BE49-F238E27FC236}">
                <a16:creationId xmlns:a16="http://schemas.microsoft.com/office/drawing/2014/main" id="{27F0D56A-6438-E871-6BA5-6D223D95553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98707" y="2438069"/>
            <a:ext cx="914400" cy="914400"/>
          </a:xfrm>
          <a:prstGeom prst="rect">
            <a:avLst/>
          </a:prstGeom>
        </p:spPr>
      </p:pic>
      <p:pic>
        <p:nvPicPr>
          <p:cNvPr id="13" name="Graphic 12" descr="Users with solid fill">
            <a:extLst>
              <a:ext uri="{FF2B5EF4-FFF2-40B4-BE49-F238E27FC236}">
                <a16:creationId xmlns:a16="http://schemas.microsoft.com/office/drawing/2014/main" id="{03A164E2-3C52-4FEE-1DB8-E3B3772446A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353235" y="1171956"/>
            <a:ext cx="914400" cy="914400"/>
          </a:xfrm>
          <a:prstGeom prst="rect">
            <a:avLst/>
          </a:prstGeom>
        </p:spPr>
      </p:pic>
      <p:pic>
        <p:nvPicPr>
          <p:cNvPr id="15" name="Graphic 14" descr="Ui Ux with solid fill">
            <a:extLst>
              <a:ext uri="{FF2B5EF4-FFF2-40B4-BE49-F238E27FC236}">
                <a16:creationId xmlns:a16="http://schemas.microsoft.com/office/drawing/2014/main" id="{7F689BEC-002C-4760-1BB5-E2897CA6337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097698" y="3704181"/>
            <a:ext cx="914400" cy="914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FFD8E-0BB2-D0C4-A4A8-4212E755E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850" y="591388"/>
            <a:ext cx="7688700" cy="535200"/>
          </a:xfrm>
        </p:spPr>
        <p:txBody>
          <a:bodyPr>
            <a:normAutofit fontScale="90000"/>
          </a:bodyPr>
          <a:lstStyle/>
          <a:p>
            <a:r>
              <a:rPr lang="en-IN" dirty="0"/>
              <a:t>Team Responsibilities</a:t>
            </a:r>
            <a:br>
              <a:rPr lang="en-IN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20004B-4DC4-5AE1-2651-C3E0E95A8C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7329" y="1558754"/>
            <a:ext cx="7767221" cy="2993358"/>
          </a:xfrm>
        </p:spPr>
        <p:txBody>
          <a:bodyPr>
            <a:noAutofit/>
          </a:bodyPr>
          <a:lstStyle/>
          <a:p>
            <a:pPr marL="488950" lvl="0" indent="-342900">
              <a:buFont typeface="+mj-lt"/>
              <a:buAutoNum type="arabicPeriod"/>
            </a:pPr>
            <a:r>
              <a:rPr lang="en-IN" sz="1500" b="1" dirty="0">
                <a:solidFill>
                  <a:schemeClr val="bg2"/>
                </a:solidFill>
              </a:rPr>
              <a:t>Jasleen Minhas – Project Lead / Full-Stack:</a:t>
            </a:r>
            <a:r>
              <a:rPr lang="en-IN" sz="1500" dirty="0">
                <a:solidFill>
                  <a:schemeClr val="bg2"/>
                </a:solidFill>
              </a:rPr>
              <a:t> Leads sprints, manages GitHub/CI, and develops authentication &amp; security modules.</a:t>
            </a:r>
          </a:p>
          <a:p>
            <a:pPr marL="488950" lvl="0" indent="-342900">
              <a:buFont typeface="+mj-lt"/>
              <a:buAutoNum type="arabicPeriod"/>
            </a:pPr>
            <a:r>
              <a:rPr lang="en-IN" sz="1500" b="1" dirty="0">
                <a:solidFill>
                  <a:schemeClr val="bg2"/>
                </a:solidFill>
              </a:rPr>
              <a:t>Sumaiya Khan – Frontend (UI/UX):</a:t>
            </a:r>
            <a:r>
              <a:rPr lang="en-IN" sz="1500" dirty="0">
                <a:solidFill>
                  <a:schemeClr val="bg2"/>
                </a:solidFill>
              </a:rPr>
              <a:t> Designs the page layout and ensures user-friendly interfaces.</a:t>
            </a:r>
          </a:p>
          <a:p>
            <a:pPr marL="488950" lvl="0" indent="-342900">
              <a:buFont typeface="+mj-lt"/>
              <a:buAutoNum type="arabicPeriod"/>
            </a:pPr>
            <a:r>
              <a:rPr lang="en-IN" sz="1500" b="1" dirty="0" err="1">
                <a:solidFill>
                  <a:schemeClr val="bg2"/>
                </a:solidFill>
              </a:rPr>
              <a:t>Mashroor</a:t>
            </a:r>
            <a:r>
              <a:rPr lang="en-IN" sz="1500" b="1" dirty="0">
                <a:solidFill>
                  <a:schemeClr val="bg2"/>
                </a:solidFill>
              </a:rPr>
              <a:t> </a:t>
            </a:r>
            <a:r>
              <a:rPr lang="en-IN" sz="1500" dirty="0">
                <a:solidFill>
                  <a:schemeClr val="bg2"/>
                </a:solidFill>
              </a:rPr>
              <a:t> </a:t>
            </a:r>
            <a:r>
              <a:rPr lang="en-IN" sz="1500" b="1" dirty="0">
                <a:solidFill>
                  <a:schemeClr val="bg2"/>
                </a:solidFill>
              </a:rPr>
              <a:t>– Backend/Database:</a:t>
            </a:r>
            <a:r>
              <a:rPr lang="en-IN" sz="1500" dirty="0">
                <a:solidFill>
                  <a:schemeClr val="bg2"/>
                </a:solidFill>
              </a:rPr>
              <a:t> Manages </a:t>
            </a:r>
            <a:r>
              <a:rPr lang="en-IN" sz="1500" dirty="0" err="1">
                <a:solidFill>
                  <a:schemeClr val="bg2"/>
                </a:solidFill>
              </a:rPr>
              <a:t>Firestore</a:t>
            </a:r>
            <a:r>
              <a:rPr lang="en-IN" sz="1500" dirty="0">
                <a:solidFill>
                  <a:schemeClr val="bg2"/>
                </a:solidFill>
              </a:rPr>
              <a:t> structure, CRUD logic, and data validation.</a:t>
            </a:r>
          </a:p>
          <a:p>
            <a:pPr marL="488950" lvl="0" indent="-342900">
              <a:buFont typeface="+mj-lt"/>
              <a:buAutoNum type="arabicPeriod"/>
            </a:pPr>
            <a:r>
              <a:rPr lang="en-IN" sz="1500" b="1" dirty="0">
                <a:solidFill>
                  <a:schemeClr val="bg2"/>
                </a:solidFill>
              </a:rPr>
              <a:t>Kaustubh Patil – Frontend(Expense Management):</a:t>
            </a:r>
            <a:r>
              <a:rPr lang="en-IN" sz="1500" dirty="0">
                <a:solidFill>
                  <a:schemeClr val="bg2"/>
                </a:solidFill>
              </a:rPr>
              <a:t> Builds expense management UI and integrates categories/filters.</a:t>
            </a:r>
          </a:p>
          <a:p>
            <a:pPr marL="488950" lvl="0" indent="-342900">
              <a:buFont typeface="+mj-lt"/>
              <a:buAutoNum type="arabicPeriod"/>
            </a:pPr>
            <a:r>
              <a:rPr lang="en-IN" sz="1500" b="1" dirty="0">
                <a:solidFill>
                  <a:schemeClr val="bg2"/>
                </a:solidFill>
              </a:rPr>
              <a:t>Joel George Sam – QA/Testing:</a:t>
            </a:r>
            <a:r>
              <a:rPr lang="en-IN" sz="1500" dirty="0">
                <a:solidFill>
                  <a:schemeClr val="bg2"/>
                </a:solidFill>
              </a:rPr>
              <a:t> Creates test cases, runs automated/system testing, and ensures V&amp;V compliance.</a:t>
            </a:r>
          </a:p>
          <a:p>
            <a:pPr marL="488950" indent="-342900">
              <a:buFont typeface="+mj-lt"/>
              <a:buAutoNum type="arabicPeriod"/>
            </a:pPr>
            <a:r>
              <a:rPr lang="en-IN" sz="1500" b="1" dirty="0">
                <a:solidFill>
                  <a:schemeClr val="bg2"/>
                </a:solidFill>
              </a:rPr>
              <a:t>Ronit Gajjar – Reporting/Features:</a:t>
            </a:r>
            <a:r>
              <a:rPr lang="en-IN" sz="1500" dirty="0">
                <a:solidFill>
                  <a:schemeClr val="bg2"/>
                </a:solidFill>
              </a:rPr>
              <a:t> Develop Reporting Page, Visualisation and PDF export. </a:t>
            </a:r>
            <a:endParaRPr lang="en-US" sz="1500" dirty="0">
              <a:solidFill>
                <a:schemeClr val="bg2"/>
              </a:solidFill>
            </a:endParaRPr>
          </a:p>
        </p:txBody>
      </p:sp>
      <p:pic>
        <p:nvPicPr>
          <p:cNvPr id="5" name="Graphic 4" descr="Programmer male with solid fill">
            <a:extLst>
              <a:ext uri="{FF2B5EF4-FFF2-40B4-BE49-F238E27FC236}">
                <a16:creationId xmlns:a16="http://schemas.microsoft.com/office/drawing/2014/main" id="{3CFAE5A6-7B36-2B17-877A-23CFBFC1D1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62740" y="417249"/>
            <a:ext cx="1070943" cy="1070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0785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00"/>
                </a:solidFill>
              </a:rPr>
              <a:t>Tech Stack Used</a:t>
            </a:r>
            <a:endParaRPr>
              <a:solidFill>
                <a:srgbClr val="FFFF00"/>
              </a:solidFill>
            </a:endParaRPr>
          </a:p>
        </p:txBody>
      </p:sp>
      <p:pic>
        <p:nvPicPr>
          <p:cNvPr id="137" name="Google Shape;13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600" y="97125"/>
            <a:ext cx="581309" cy="33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2" name="Google Shape;142;p22"/>
          <p:cNvGraphicFramePr/>
          <p:nvPr>
            <p:extLst>
              <p:ext uri="{D42A27DB-BD31-4B8C-83A1-F6EECF244321}">
                <p14:modId xmlns:p14="http://schemas.microsoft.com/office/powerpoint/2010/main" val="3851898600"/>
              </p:ext>
            </p:extLst>
          </p:nvPr>
        </p:nvGraphicFramePr>
        <p:xfrm>
          <a:off x="696590" y="657717"/>
          <a:ext cx="7595154" cy="3962100"/>
        </p:xfrm>
        <a:graphic>
          <a:graphicData uri="http://schemas.openxmlformats.org/drawingml/2006/table">
            <a:tbl>
              <a:tblPr>
                <a:noFill/>
                <a:tableStyleId>{D36D93E0-FE57-40B0-AAFF-2FD2DFCAAC05}</a:tableStyleId>
              </a:tblPr>
              <a:tblGrid>
                <a:gridCol w="37975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75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Raleway ExtraBold"/>
                          <a:ea typeface="Raleway ExtraBold"/>
                          <a:cs typeface="Raleway ExtraBold"/>
                          <a:sym typeface="Raleway ExtraBold"/>
                        </a:rPr>
                        <a:t>Purpose</a:t>
                      </a:r>
                      <a:endParaRPr>
                        <a:latin typeface="Raleway ExtraBold"/>
                        <a:ea typeface="Raleway ExtraBold"/>
                        <a:cs typeface="Raleway ExtraBold"/>
                        <a:sym typeface="Raleway ExtraBol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Raleway ExtraBold"/>
                          <a:ea typeface="Raleway ExtraBold"/>
                          <a:cs typeface="Raleway ExtraBold"/>
                          <a:sym typeface="Raleway ExtraBold"/>
                        </a:rPr>
                        <a:t>Technology/Tools</a:t>
                      </a:r>
                      <a:endParaRPr>
                        <a:latin typeface="Raleway ExtraBold"/>
                        <a:ea typeface="Raleway ExtraBold"/>
                        <a:cs typeface="Raleway ExtraBold"/>
                        <a:sym typeface="Raleway ExtraBol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 dirty="0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Frontend UI</a:t>
                      </a:r>
                      <a:endParaRPr b="1" dirty="0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38761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6913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8761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React.js</a:t>
                      </a:r>
                      <a:endParaRPr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E6913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6913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6913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State management</a:t>
                      </a:r>
                      <a:endParaRPr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38761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6913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8761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8761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React Context API</a:t>
                      </a:r>
                      <a:endParaRPr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E6913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6913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6913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6913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User Login/ Signup</a:t>
                      </a:r>
                      <a:endParaRPr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38761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6913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8761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8761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Firebase Authentication</a:t>
                      </a:r>
                      <a:endParaRPr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E6913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6913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6913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6913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 dirty="0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Database (real-time NoSQL)</a:t>
                      </a:r>
                      <a:endParaRPr b="1" dirty="0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38761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6913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8761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8761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Firebase </a:t>
                      </a:r>
                      <a:r>
                        <a:rPr lang="en-GB" dirty="0" err="1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Firestore</a:t>
                      </a:r>
                      <a:endParaRPr dirty="0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E6913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6913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6913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6913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Data visualization (charts)</a:t>
                      </a:r>
                      <a:endParaRPr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38761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6913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8761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8761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charts.js</a:t>
                      </a:r>
                      <a:endParaRPr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E6913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6913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6913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6913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Data handling</a:t>
                      </a:r>
                      <a:endParaRPr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38761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6913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8761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8761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date-fns</a:t>
                      </a:r>
                      <a:endParaRPr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E6913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6913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6913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6913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Report generation (PDFs)</a:t>
                      </a:r>
                      <a:endParaRPr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38761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6913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8761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8761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jsPDF + html2canvas</a:t>
                      </a:r>
                      <a:endParaRPr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E6913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6913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6913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6913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Testing (unit/system)</a:t>
                      </a:r>
                      <a:endParaRPr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38761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6913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8761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8761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Jest + React Testing Lib</a:t>
                      </a:r>
                      <a:endParaRPr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E6913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6913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6913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6913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Collaboration &amp; Agile tracking</a:t>
                      </a:r>
                      <a:endParaRPr dirty="0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38761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6913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8761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8761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GitHub (Projects, Issues)</a:t>
                      </a:r>
                      <a:endParaRPr dirty="0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E6913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6913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6913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6913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143" name="Google Shape;14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600" y="97125"/>
            <a:ext cx="581309" cy="33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00"/>
                </a:solidFill>
              </a:rPr>
              <a:t>Project Plan &amp; Deliverables</a:t>
            </a:r>
            <a:endParaRPr>
              <a:solidFill>
                <a:srgbClr val="FFFF00"/>
              </a:solidFill>
            </a:endParaRPr>
          </a:p>
        </p:txBody>
      </p:sp>
      <p:pic>
        <p:nvPicPr>
          <p:cNvPr id="149" name="Google Shape;14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600" y="97125"/>
            <a:ext cx="581309" cy="33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4" name="Google Shape;154;p24"/>
          <p:cNvCxnSpPr>
            <a:endCxn id="155" idx="3"/>
          </p:cNvCxnSpPr>
          <p:nvPr/>
        </p:nvCxnSpPr>
        <p:spPr>
          <a:xfrm>
            <a:off x="5310729" y="3406259"/>
            <a:ext cx="3377400" cy="106500"/>
          </a:xfrm>
          <a:prstGeom prst="straightConnector1">
            <a:avLst/>
          </a:prstGeom>
          <a:noFill/>
          <a:ln w="51075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6" name="Google Shape;156;p24"/>
          <p:cNvCxnSpPr>
            <a:stCxn id="157" idx="1"/>
          </p:cNvCxnSpPr>
          <p:nvPr/>
        </p:nvCxnSpPr>
        <p:spPr>
          <a:xfrm rot="10800000" flipH="1">
            <a:off x="468450" y="3406055"/>
            <a:ext cx="4563600" cy="146400"/>
          </a:xfrm>
          <a:prstGeom prst="straightConnector1">
            <a:avLst/>
          </a:prstGeom>
          <a:noFill/>
          <a:ln w="5107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58" name="Google Shape;158;p24"/>
          <p:cNvGrpSpPr/>
          <p:nvPr/>
        </p:nvGrpSpPr>
        <p:grpSpPr>
          <a:xfrm>
            <a:off x="7143110" y="1902843"/>
            <a:ext cx="1555638" cy="2616000"/>
            <a:chOff x="5293206" y="2598018"/>
            <a:chExt cx="1040700" cy="1119767"/>
          </a:xfrm>
        </p:grpSpPr>
        <p:sp>
          <p:nvSpPr>
            <p:cNvPr id="155" name="Google Shape;155;p24"/>
            <p:cNvSpPr txBox="1"/>
            <p:nvPr/>
          </p:nvSpPr>
          <p:spPr>
            <a:xfrm>
              <a:off x="5297801" y="2856485"/>
              <a:ext cx="1029000" cy="861300"/>
            </a:xfrm>
            <a:prstGeom prst="rect">
              <a:avLst/>
            </a:prstGeom>
            <a:solidFill>
              <a:srgbClr val="B7B7B7"/>
            </a:solidFill>
            <a:ln w="1277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2550" tIns="122550" rIns="122550" bIns="1225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6">
                  <a:solidFill>
                    <a:schemeClr val="dk2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Bug fixing &amp; </a:t>
              </a:r>
              <a:r>
                <a:rPr lang="en-GB" sz="1006">
                  <a:solidFill>
                    <a:schemeClr val="dk2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extended features (CSV import, notifications, AI exploration)</a:t>
              </a:r>
              <a:br>
                <a:rPr lang="en-GB" sz="1006">
                  <a:solidFill>
                    <a:schemeClr val="dk2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</a:br>
              <a:endParaRPr sz="1006">
                <a:solidFill>
                  <a:schemeClr val="dk2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6">
                  <a:solidFill>
                    <a:schemeClr val="dk2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Final documentation (SRS, user manual, V&amp;V)</a:t>
              </a:r>
              <a:br>
                <a:rPr lang="en-GB" sz="1006">
                  <a:solidFill>
                    <a:schemeClr val="dk2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</a:br>
              <a:endParaRPr sz="1006">
                <a:solidFill>
                  <a:schemeClr val="dk2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6">
                  <a:solidFill>
                    <a:schemeClr val="dk2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Demo &amp; presentation prep</a:t>
              </a:r>
              <a:endParaRPr sz="1006">
                <a:solidFill>
                  <a:schemeClr val="dk2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6">
                <a:solidFill>
                  <a:schemeClr val="dk2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</p:txBody>
        </p:sp>
        <p:sp>
          <p:nvSpPr>
            <p:cNvPr id="159" name="Google Shape;159;p24"/>
            <p:cNvSpPr txBox="1"/>
            <p:nvPr/>
          </p:nvSpPr>
          <p:spPr>
            <a:xfrm>
              <a:off x="5293206" y="2598018"/>
              <a:ext cx="1040700" cy="244800"/>
            </a:xfrm>
            <a:prstGeom prst="rect">
              <a:avLst/>
            </a:prstGeom>
            <a:solidFill>
              <a:srgbClr val="B7B7B7"/>
            </a:solidFill>
            <a:ln>
              <a:noFill/>
            </a:ln>
          </p:spPr>
          <p:txBody>
            <a:bodyPr spcFirstLastPara="1" wrap="square" lIns="122550" tIns="122550" rIns="122550" bIns="1225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38" b="1" dirty="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  <a:t>Sprint 5 (Nov 17 – Nov 28)</a:t>
              </a:r>
              <a:endParaRPr sz="1238" b="1" dirty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160" name="Google Shape;160;p24"/>
          <p:cNvGrpSpPr/>
          <p:nvPr/>
        </p:nvGrpSpPr>
        <p:grpSpPr>
          <a:xfrm>
            <a:off x="5479435" y="1902845"/>
            <a:ext cx="1538174" cy="2615776"/>
            <a:chOff x="4180364" y="2590976"/>
            <a:chExt cx="1029017" cy="1219419"/>
          </a:xfrm>
        </p:grpSpPr>
        <p:sp>
          <p:nvSpPr>
            <p:cNvPr id="161" name="Google Shape;161;p24"/>
            <p:cNvSpPr txBox="1"/>
            <p:nvPr/>
          </p:nvSpPr>
          <p:spPr>
            <a:xfrm>
              <a:off x="4180364" y="2856395"/>
              <a:ext cx="1029000" cy="954000"/>
            </a:xfrm>
            <a:prstGeom prst="rect">
              <a:avLst/>
            </a:prstGeom>
            <a:solidFill>
              <a:srgbClr val="B7B7B7"/>
            </a:solidFill>
            <a:ln>
              <a:noFill/>
            </a:ln>
          </p:spPr>
          <p:txBody>
            <a:bodyPr spcFirstLastPara="1" wrap="square" lIns="122550" tIns="122550" rIns="122550" bIns="1225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6">
                  <a:latin typeface="Raleway Medium"/>
                  <a:ea typeface="Raleway Medium"/>
                  <a:cs typeface="Raleway Medium"/>
                  <a:sym typeface="Raleway Medium"/>
                </a:rPr>
                <a:t>Visualization (Pie, Bar, Line charts)</a:t>
              </a:r>
              <a:endParaRPr sz="1106">
                <a:latin typeface="Raleway Medium"/>
                <a:ea typeface="Raleway Medium"/>
                <a:cs typeface="Raleway Medium"/>
                <a:sym typeface="Raleway Medium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6">
                <a:latin typeface="Raleway Medium"/>
                <a:ea typeface="Raleway Medium"/>
                <a:cs typeface="Raleway Medium"/>
                <a:sym typeface="Raleway Medium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6">
                  <a:latin typeface="Raleway Medium"/>
                  <a:ea typeface="Raleway Medium"/>
                  <a:cs typeface="Raleway Medium"/>
                  <a:sym typeface="Raleway Medium"/>
                </a:rPr>
                <a:t>Reporting (PDF export)</a:t>
              </a:r>
              <a:br>
                <a:rPr lang="en-GB" sz="1106">
                  <a:latin typeface="Raleway Medium"/>
                  <a:ea typeface="Raleway Medium"/>
                  <a:cs typeface="Raleway Medium"/>
                  <a:sym typeface="Raleway Medium"/>
                </a:rPr>
              </a:br>
              <a:endParaRPr sz="1106">
                <a:latin typeface="Raleway Medium"/>
                <a:ea typeface="Raleway Medium"/>
                <a:cs typeface="Raleway Medium"/>
                <a:sym typeface="Raleway Medium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6">
                  <a:latin typeface="Raleway Medium"/>
                  <a:ea typeface="Raleway Medium"/>
                  <a:cs typeface="Raleway Medium"/>
                  <a:sym typeface="Raleway Medium"/>
                </a:rPr>
                <a:t>Usability refinements</a:t>
              </a:r>
              <a:br>
                <a:rPr lang="en-GB" sz="1106">
                  <a:latin typeface="Raleway Medium"/>
                  <a:ea typeface="Raleway Medium"/>
                  <a:cs typeface="Raleway Medium"/>
                  <a:sym typeface="Raleway Medium"/>
                </a:rPr>
              </a:br>
              <a:endParaRPr sz="1106">
                <a:latin typeface="Raleway Medium"/>
                <a:ea typeface="Raleway Medium"/>
                <a:cs typeface="Raleway Medium"/>
                <a:sym typeface="Raleway Medium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6">
                  <a:latin typeface="Raleway Medium"/>
                  <a:ea typeface="Raleway Medium"/>
                  <a:cs typeface="Raleway Medium"/>
                  <a:sym typeface="Raleway Medium"/>
                </a:rPr>
                <a:t>Structured testing begins</a:t>
              </a:r>
              <a:endParaRPr sz="1106">
                <a:latin typeface="Raleway Medium"/>
                <a:ea typeface="Raleway Medium"/>
                <a:cs typeface="Raleway Medium"/>
                <a:sym typeface="Raleway Medium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6">
                <a:latin typeface="Raleway Medium"/>
                <a:ea typeface="Raleway Medium"/>
                <a:cs typeface="Raleway Medium"/>
                <a:sym typeface="Raleway Medium"/>
              </a:endParaRPr>
            </a:p>
          </p:txBody>
        </p:sp>
        <p:sp>
          <p:nvSpPr>
            <p:cNvPr id="162" name="Google Shape;162;p24"/>
            <p:cNvSpPr txBox="1"/>
            <p:nvPr/>
          </p:nvSpPr>
          <p:spPr>
            <a:xfrm>
              <a:off x="4180381" y="2590976"/>
              <a:ext cx="1029000" cy="252000"/>
            </a:xfrm>
            <a:prstGeom prst="rect">
              <a:avLst/>
            </a:prstGeom>
            <a:solidFill>
              <a:srgbClr val="B7B7B7"/>
            </a:solidFill>
            <a:ln>
              <a:noFill/>
            </a:ln>
          </p:spPr>
          <p:txBody>
            <a:bodyPr spcFirstLastPara="1" wrap="square" lIns="122550" tIns="122550" rIns="122550" bIns="122550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1609"/>
                </a:spcBef>
                <a:spcAft>
                  <a:spcPts val="0"/>
                </a:spcAft>
                <a:buNone/>
              </a:pPr>
              <a:r>
                <a:rPr lang="en-GB" sz="1204" b="1" dirty="0">
                  <a:latin typeface="Raleway Medium"/>
                  <a:ea typeface="Raleway Medium"/>
                  <a:cs typeface="Raleway Medium"/>
                  <a:sym typeface="Raleway Medium"/>
                </a:rPr>
                <a:t>Sprint 4 (Nov 3 – Nov 16)</a:t>
              </a:r>
              <a:endParaRPr sz="1204" b="1" dirty="0">
                <a:latin typeface="Raleway Medium"/>
                <a:ea typeface="Raleway Medium"/>
                <a:cs typeface="Raleway Medium"/>
                <a:sym typeface="Raleway Medium"/>
              </a:endParaRPr>
            </a:p>
            <a:p>
              <a:pPr marL="0" lvl="0" indent="0" algn="ctr" rtl="0">
                <a:spcBef>
                  <a:spcPts val="1609"/>
                </a:spcBef>
                <a:spcAft>
                  <a:spcPts val="0"/>
                </a:spcAft>
                <a:buNone/>
              </a:pPr>
              <a:endParaRPr sz="938" b="1" dirty="0">
                <a:latin typeface="Raleway Medium"/>
                <a:ea typeface="Raleway Medium"/>
                <a:cs typeface="Raleway Medium"/>
                <a:sym typeface="Raleway Medium"/>
              </a:endParaRPr>
            </a:p>
          </p:txBody>
        </p:sp>
      </p:grpSp>
      <p:grpSp>
        <p:nvGrpSpPr>
          <p:cNvPr id="163" name="Google Shape;163;p24"/>
          <p:cNvGrpSpPr/>
          <p:nvPr/>
        </p:nvGrpSpPr>
        <p:grpSpPr>
          <a:xfrm>
            <a:off x="3809158" y="1902845"/>
            <a:ext cx="1538201" cy="2615682"/>
            <a:chOff x="3062921" y="2524946"/>
            <a:chExt cx="1029035" cy="1192742"/>
          </a:xfrm>
        </p:grpSpPr>
        <p:sp>
          <p:nvSpPr>
            <p:cNvPr id="164" name="Google Shape;164;p24"/>
            <p:cNvSpPr txBox="1"/>
            <p:nvPr/>
          </p:nvSpPr>
          <p:spPr>
            <a:xfrm>
              <a:off x="3062921" y="2856388"/>
              <a:ext cx="1029000" cy="861300"/>
            </a:xfrm>
            <a:prstGeom prst="rect">
              <a:avLst/>
            </a:prstGeom>
            <a:solidFill>
              <a:srgbClr val="B7B7B7"/>
            </a:solidFill>
            <a:ln>
              <a:noFill/>
            </a:ln>
          </p:spPr>
          <p:txBody>
            <a:bodyPr spcFirstLastPara="1" wrap="square" lIns="122550" tIns="122550" rIns="122550" bIns="1225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6" dirty="0">
                  <a:latin typeface="Raleway Medium"/>
                  <a:ea typeface="Raleway Medium"/>
                  <a:cs typeface="Raleway Medium"/>
                  <a:sym typeface="Raleway Medium"/>
                </a:rPr>
                <a:t>Expense Management (add, edit, delete, list)</a:t>
              </a:r>
              <a:br>
                <a:rPr lang="en-GB" sz="1206" dirty="0">
                  <a:latin typeface="Raleway Medium"/>
                  <a:ea typeface="Raleway Medium"/>
                  <a:cs typeface="Raleway Medium"/>
                  <a:sym typeface="Raleway Medium"/>
                </a:rPr>
              </a:br>
              <a:endParaRPr sz="1206" dirty="0">
                <a:latin typeface="Raleway Medium"/>
                <a:ea typeface="Raleway Medium"/>
                <a:cs typeface="Raleway Medium"/>
                <a:sym typeface="Raleway Medium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6" dirty="0">
                  <a:latin typeface="Raleway Medium"/>
                  <a:ea typeface="Raleway Medium"/>
                  <a:cs typeface="Raleway Medium"/>
                  <a:sym typeface="Raleway Medium"/>
                </a:rPr>
                <a:t>Category Management (create, filter)</a:t>
              </a:r>
              <a:endParaRPr sz="1206" dirty="0">
                <a:latin typeface="Raleway Medium"/>
                <a:ea typeface="Raleway Medium"/>
                <a:cs typeface="Raleway Medium"/>
                <a:sym typeface="Raleway Medium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6" dirty="0">
                <a:latin typeface="Raleway Medium"/>
                <a:ea typeface="Raleway Medium"/>
                <a:cs typeface="Raleway Medium"/>
                <a:sym typeface="Raleway Medium"/>
              </a:endParaRPr>
            </a:p>
          </p:txBody>
        </p:sp>
        <p:sp>
          <p:nvSpPr>
            <p:cNvPr id="165" name="Google Shape;165;p24"/>
            <p:cNvSpPr txBox="1"/>
            <p:nvPr/>
          </p:nvSpPr>
          <p:spPr>
            <a:xfrm>
              <a:off x="3062955" y="2524946"/>
              <a:ext cx="1029000" cy="318000"/>
            </a:xfrm>
            <a:prstGeom prst="rect">
              <a:avLst/>
            </a:prstGeom>
            <a:solidFill>
              <a:srgbClr val="B7B7B7"/>
            </a:solidFill>
            <a:ln>
              <a:noFill/>
            </a:ln>
          </p:spPr>
          <p:txBody>
            <a:bodyPr spcFirstLastPara="1" wrap="square" lIns="122550" tIns="122550" rIns="122550" bIns="1225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40" b="1" dirty="0">
                  <a:latin typeface="Raleway"/>
                  <a:ea typeface="Raleway"/>
                  <a:cs typeface="Raleway"/>
                  <a:sym typeface="Raleway"/>
                </a:rPr>
                <a:t>Sprint 3 (Oct 20 – Nov 2)</a:t>
              </a:r>
              <a:endParaRPr sz="1340" b="1" dirty="0"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166" name="Google Shape;166;p24"/>
          <p:cNvGrpSpPr/>
          <p:nvPr/>
        </p:nvGrpSpPr>
        <p:grpSpPr>
          <a:xfrm>
            <a:off x="2138823" y="1902851"/>
            <a:ext cx="1538161" cy="2615800"/>
            <a:chOff x="1945497" y="2517174"/>
            <a:chExt cx="1029008" cy="1299195"/>
          </a:xfrm>
        </p:grpSpPr>
        <p:sp>
          <p:nvSpPr>
            <p:cNvPr id="167" name="Google Shape;167;p24"/>
            <p:cNvSpPr txBox="1"/>
            <p:nvPr/>
          </p:nvSpPr>
          <p:spPr>
            <a:xfrm>
              <a:off x="1945497" y="2856369"/>
              <a:ext cx="1029000" cy="960000"/>
            </a:xfrm>
            <a:prstGeom prst="rect">
              <a:avLst/>
            </a:prstGeom>
            <a:solidFill>
              <a:srgbClr val="B7B7B7"/>
            </a:solidFill>
            <a:ln>
              <a:noFill/>
            </a:ln>
          </p:spPr>
          <p:txBody>
            <a:bodyPr spcFirstLastPara="1" wrap="square" lIns="122550" tIns="122550" rIns="122550" bIns="1225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6" dirty="0">
                  <a:latin typeface="Raleway Medium"/>
                  <a:ea typeface="Raleway Medium"/>
                  <a:cs typeface="Raleway Medium"/>
                  <a:sym typeface="Raleway Medium"/>
                </a:rPr>
                <a:t>Frontend setup (React boilerplate, routing, context API)</a:t>
              </a:r>
              <a:br>
                <a:rPr lang="en-GB" sz="1206" dirty="0">
                  <a:latin typeface="Raleway Medium"/>
                  <a:ea typeface="Raleway Medium"/>
                  <a:cs typeface="Raleway Medium"/>
                  <a:sym typeface="Raleway Medium"/>
                </a:rPr>
              </a:br>
              <a:endParaRPr sz="1206" dirty="0">
                <a:latin typeface="Raleway Medium"/>
                <a:ea typeface="Raleway Medium"/>
                <a:cs typeface="Raleway Medium"/>
                <a:sym typeface="Raleway Medium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6" dirty="0">
                  <a:latin typeface="Raleway Medium"/>
                  <a:ea typeface="Raleway Medium"/>
                  <a:cs typeface="Raleway Medium"/>
                  <a:sym typeface="Raleway Medium"/>
                </a:rPr>
                <a:t>Authentication module</a:t>
              </a:r>
              <a:endParaRPr sz="1206" dirty="0">
                <a:latin typeface="Raleway Medium"/>
                <a:ea typeface="Raleway Medium"/>
                <a:cs typeface="Raleway Medium"/>
                <a:sym typeface="Raleway Medium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6" dirty="0">
                <a:latin typeface="Raleway Medium"/>
                <a:ea typeface="Raleway Medium"/>
                <a:cs typeface="Raleway Medium"/>
                <a:sym typeface="Raleway Medium"/>
              </a:endParaRPr>
            </a:p>
          </p:txBody>
        </p:sp>
        <p:sp>
          <p:nvSpPr>
            <p:cNvPr id="168" name="Google Shape;168;p24"/>
            <p:cNvSpPr txBox="1"/>
            <p:nvPr/>
          </p:nvSpPr>
          <p:spPr>
            <a:xfrm>
              <a:off x="1945505" y="2517174"/>
              <a:ext cx="1029000" cy="325800"/>
            </a:xfrm>
            <a:prstGeom prst="rect">
              <a:avLst/>
            </a:prstGeom>
            <a:solidFill>
              <a:srgbClr val="B7B7B7"/>
            </a:solidFill>
            <a:ln>
              <a:noFill/>
            </a:ln>
          </p:spPr>
          <p:txBody>
            <a:bodyPr spcFirstLastPara="1" wrap="square" lIns="122550" tIns="122550" rIns="122550" bIns="1225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40" b="1" dirty="0">
                  <a:latin typeface="Raleway"/>
                  <a:ea typeface="Raleway"/>
                  <a:cs typeface="Raleway"/>
                  <a:sym typeface="Raleway"/>
                </a:rPr>
                <a:t>Sprint 2 (Oct 6 – Oct 19</a:t>
              </a:r>
              <a:r>
                <a:rPr lang="en-GB" sz="938" b="1" dirty="0">
                  <a:latin typeface="Raleway"/>
                  <a:ea typeface="Raleway"/>
                  <a:cs typeface="Raleway"/>
                  <a:sym typeface="Raleway"/>
                </a:rPr>
                <a:t>)</a:t>
              </a:r>
              <a:endParaRPr sz="938" b="1" dirty="0"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169" name="Google Shape;169;p24"/>
          <p:cNvGrpSpPr/>
          <p:nvPr/>
        </p:nvGrpSpPr>
        <p:grpSpPr>
          <a:xfrm>
            <a:off x="468450" y="1902844"/>
            <a:ext cx="1538159" cy="2616043"/>
            <a:chOff x="828041" y="2517170"/>
            <a:chExt cx="1029007" cy="1299316"/>
          </a:xfrm>
        </p:grpSpPr>
        <p:sp>
          <p:nvSpPr>
            <p:cNvPr id="157" name="Google Shape;157;p24"/>
            <p:cNvSpPr txBox="1"/>
            <p:nvPr/>
          </p:nvSpPr>
          <p:spPr>
            <a:xfrm>
              <a:off x="828041" y="2856487"/>
              <a:ext cx="1029000" cy="960000"/>
            </a:xfrm>
            <a:prstGeom prst="rect">
              <a:avLst/>
            </a:prstGeom>
            <a:solidFill>
              <a:srgbClr val="B7B7B7"/>
            </a:solidFill>
            <a:ln>
              <a:noFill/>
            </a:ln>
          </p:spPr>
          <p:txBody>
            <a:bodyPr spcFirstLastPara="1" wrap="square" lIns="122550" tIns="122550" rIns="122550" bIns="1225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72" dirty="0">
                  <a:latin typeface="Raleway Medium"/>
                  <a:ea typeface="Raleway Medium"/>
                  <a:cs typeface="Raleway Medium"/>
                  <a:sym typeface="Raleway Medium"/>
                </a:rPr>
                <a:t>Requirement analysis</a:t>
              </a:r>
              <a:endParaRPr sz="1072" dirty="0">
                <a:latin typeface="Raleway Medium"/>
                <a:ea typeface="Raleway Medium"/>
                <a:cs typeface="Raleway Medium"/>
                <a:sym typeface="Raleway Medium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72" dirty="0">
                <a:latin typeface="Raleway Medium"/>
                <a:ea typeface="Raleway Medium"/>
                <a:cs typeface="Raleway Medium"/>
                <a:sym typeface="Raleway Medium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72" dirty="0">
                  <a:latin typeface="Raleway Medium"/>
                  <a:ea typeface="Raleway Medium"/>
                  <a:cs typeface="Raleway Medium"/>
                  <a:sym typeface="Raleway Medium"/>
                </a:rPr>
                <a:t>System design</a:t>
              </a:r>
              <a:br>
                <a:rPr lang="en-GB" sz="1072" dirty="0">
                  <a:latin typeface="Raleway Medium"/>
                  <a:ea typeface="Raleway Medium"/>
                  <a:cs typeface="Raleway Medium"/>
                  <a:sym typeface="Raleway Medium"/>
                </a:rPr>
              </a:br>
              <a:endParaRPr sz="1072" dirty="0">
                <a:latin typeface="Raleway Medium"/>
                <a:ea typeface="Raleway Medium"/>
                <a:cs typeface="Raleway Medium"/>
                <a:sym typeface="Raleway Medium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72" dirty="0">
                  <a:latin typeface="Raleway Medium"/>
                  <a:ea typeface="Raleway Medium"/>
                  <a:cs typeface="Raleway Medium"/>
                  <a:sym typeface="Raleway Medium"/>
                </a:rPr>
                <a:t>GitHub setup (repo, CI/CD)</a:t>
              </a:r>
              <a:br>
                <a:rPr lang="en-GB" sz="1072" dirty="0">
                  <a:latin typeface="Raleway Medium"/>
                  <a:ea typeface="Raleway Medium"/>
                  <a:cs typeface="Raleway Medium"/>
                  <a:sym typeface="Raleway Medium"/>
                </a:rPr>
              </a:br>
              <a:endParaRPr sz="1072" dirty="0">
                <a:latin typeface="Raleway Medium"/>
                <a:ea typeface="Raleway Medium"/>
                <a:cs typeface="Raleway Medium"/>
                <a:sym typeface="Raleway Medium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72" dirty="0">
                  <a:latin typeface="Raleway Medium"/>
                  <a:ea typeface="Raleway Medium"/>
                  <a:cs typeface="Raleway Medium"/>
                  <a:sym typeface="Raleway Medium"/>
                </a:rPr>
                <a:t>Firebase setup</a:t>
              </a:r>
              <a:endParaRPr sz="1072" dirty="0">
                <a:latin typeface="Raleway Medium"/>
                <a:ea typeface="Raleway Medium"/>
                <a:cs typeface="Raleway Medium"/>
                <a:sym typeface="Raleway Medium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6" dirty="0"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70" name="Google Shape;170;p24"/>
            <p:cNvSpPr txBox="1"/>
            <p:nvPr/>
          </p:nvSpPr>
          <p:spPr>
            <a:xfrm>
              <a:off x="828048" y="2517170"/>
              <a:ext cx="1029000" cy="325800"/>
            </a:xfrm>
            <a:prstGeom prst="rect">
              <a:avLst/>
            </a:prstGeom>
            <a:solidFill>
              <a:srgbClr val="B7B7B7"/>
            </a:solidFill>
            <a:ln>
              <a:noFill/>
            </a:ln>
          </p:spPr>
          <p:txBody>
            <a:bodyPr spcFirstLastPara="1" wrap="square" lIns="122550" tIns="122550" rIns="122550" bIns="1225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40" b="1" dirty="0">
                  <a:latin typeface="Raleway"/>
                  <a:ea typeface="Raleway"/>
                  <a:cs typeface="Raleway"/>
                  <a:sym typeface="Raleway"/>
                </a:rPr>
                <a:t>Sprint 1 (Sept 22 – Oct 5)</a:t>
              </a:r>
              <a:endParaRPr sz="1340" b="1" dirty="0"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sp>
        <p:nvSpPr>
          <p:cNvPr id="171" name="Google Shape;171;p24"/>
          <p:cNvSpPr txBox="1"/>
          <p:nvPr/>
        </p:nvSpPr>
        <p:spPr>
          <a:xfrm>
            <a:off x="468450" y="555400"/>
            <a:ext cx="8207100" cy="5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500" b="1" dirty="0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Timeline Layout for Agile Methodology</a:t>
            </a:r>
            <a:endParaRPr sz="2500" b="1" dirty="0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72" name="Google Shape;17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600" y="97125"/>
            <a:ext cx="581309" cy="3356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2CD9D11-BC80-12FE-EE81-72FE0ABF9D04}"/>
              </a:ext>
            </a:extLst>
          </p:cNvPr>
          <p:cNvSpPr txBox="1"/>
          <p:nvPr/>
        </p:nvSpPr>
        <p:spPr>
          <a:xfrm>
            <a:off x="1322772" y="1386352"/>
            <a:ext cx="67825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dirty="0">
                <a:latin typeface="Raleway" pitchFamily="2" charset="77"/>
                <a:cs typeface="Times New Roman" panose="02020603050405020304" pitchFamily="18" charset="0"/>
              </a:rPr>
              <a:t>We will work in </a:t>
            </a:r>
            <a:r>
              <a:rPr lang="en-IN" b="1" dirty="0">
                <a:latin typeface="Raleway" pitchFamily="2" charset="77"/>
                <a:cs typeface="Times New Roman" panose="02020603050405020304" pitchFamily="18" charset="0"/>
              </a:rPr>
              <a:t>two-week sprints</a:t>
            </a:r>
            <a:r>
              <a:rPr lang="en-IN" dirty="0">
                <a:latin typeface="Raleway" pitchFamily="2" charset="77"/>
                <a:cs typeface="Times New Roman" panose="02020603050405020304" pitchFamily="18" charset="0"/>
              </a:rPr>
              <a:t> that would be 5 sprints for 10-weeks timeline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5"/>
          <p:cNvSpPr txBox="1">
            <a:spLocks noGrp="1"/>
          </p:cNvSpPr>
          <p:nvPr>
            <p:ph type="subTitle" idx="1"/>
          </p:nvPr>
        </p:nvSpPr>
        <p:spPr>
          <a:xfrm>
            <a:off x="469254" y="1355995"/>
            <a:ext cx="7963321" cy="32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2400" b="1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Deliverables</a:t>
            </a:r>
            <a:endParaRPr sz="2400" b="1" dirty="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-GB" sz="1800" b="1" dirty="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Phase 1 (Till October End)</a:t>
            </a:r>
            <a:r>
              <a:rPr lang="en-GB" sz="1800" dirty="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→ Prototype (Auth + Frontend UI + Expense Management + Categories Management) + Progress Report</a:t>
            </a:r>
            <a:br>
              <a:rPr lang="en-GB" sz="1800" dirty="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</a:br>
            <a:endParaRPr sz="1800" dirty="0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-GB" sz="1800" b="1" dirty="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Phase 2 (Final)</a:t>
            </a:r>
            <a:r>
              <a:rPr lang="en-GB" sz="1800" dirty="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→ Complete WebApp + Documentation + Testing Reports + Final Demo</a:t>
            </a:r>
            <a:endParaRPr sz="1800" dirty="0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78" name="Google Shape;17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600" y="97125"/>
            <a:ext cx="581309" cy="33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6"/>
          <p:cNvSpPr txBox="1">
            <a:spLocks noGrp="1"/>
          </p:cNvSpPr>
          <p:nvPr>
            <p:ph type="title"/>
          </p:nvPr>
        </p:nvSpPr>
        <p:spPr>
          <a:xfrm>
            <a:off x="727800" y="22078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00"/>
                </a:solidFill>
              </a:rPr>
              <a:t>Thank You</a:t>
            </a:r>
            <a:endParaRPr>
              <a:solidFill>
                <a:srgbClr val="FFFF00"/>
              </a:solidFill>
            </a:endParaRPr>
          </a:p>
        </p:txBody>
      </p:sp>
      <p:pic>
        <p:nvPicPr>
          <p:cNvPr id="184" name="Google Shape;18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600" y="97125"/>
            <a:ext cx="581309" cy="33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580</Words>
  <Application>Microsoft Macintosh PowerPoint</Application>
  <PresentationFormat>On-screen Show (16:9)</PresentationFormat>
  <Paragraphs>97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Helvetica</vt:lpstr>
      <vt:lpstr>Raleway Medium</vt:lpstr>
      <vt:lpstr>Raleway</vt:lpstr>
      <vt:lpstr>Raleway ExtraBold</vt:lpstr>
      <vt:lpstr>Lato</vt:lpstr>
      <vt:lpstr>Arial</vt:lpstr>
      <vt:lpstr>Streamline</vt:lpstr>
      <vt:lpstr>Project Proposal Group 6  Budget Buddy  (Finance Tracking WebApp)</vt:lpstr>
      <vt:lpstr>Outline</vt:lpstr>
      <vt:lpstr>Introduction &amp; Problem Statement</vt:lpstr>
      <vt:lpstr>PowerPoint Presentation</vt:lpstr>
      <vt:lpstr>PowerPoint Presentation</vt:lpstr>
      <vt:lpstr>Proposed Solution &amp; Scope</vt:lpstr>
      <vt:lpstr>PowerPoint Presentation</vt:lpstr>
      <vt:lpstr>PowerPoint Presentation</vt:lpstr>
      <vt:lpstr>Team Responsibilities </vt:lpstr>
      <vt:lpstr>Tech Stack Used</vt:lpstr>
      <vt:lpstr>PowerPoint Presentation</vt:lpstr>
      <vt:lpstr>Project Plan &amp; Deliverables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Jasleen Minhas</cp:lastModifiedBy>
  <cp:revision>14</cp:revision>
  <dcterms:modified xsi:type="dcterms:W3CDTF">2025-09-25T16:50:04Z</dcterms:modified>
</cp:coreProperties>
</file>